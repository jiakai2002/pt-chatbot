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Figtree" panose="020B0604020202020204" charset="0"/>
      <p:regular r:id="rId12"/>
    </p:embeddedFont>
    <p:embeddedFont>
      <p:font typeface="Figtree Bold" panose="020B0604020202020204" charset="0"/>
      <p:regular r:id="rId13"/>
    </p:embeddedFont>
    <p:embeddedFont>
      <p:font typeface="Figtree SemiBold" panose="020B0604020202020204" charset="0"/>
      <p:regular r:id="rId14"/>
    </p:embeddedFont>
    <p:embeddedFont>
      <p:font typeface="Martian Mono" panose="020B0604020202020204" charset="0"/>
      <p:regular r:id="rId15"/>
    </p:embeddedFont>
    <p:embeddedFont>
      <p:font typeface="Martian Mono Medium" panose="020B0604020202020204" charset="0"/>
      <p:regular r:id="rId16"/>
    </p:embeddedFont>
    <p:embeddedFont>
      <p:font typeface="Unbounded Bold" panose="020B0604020202020204" charset="0"/>
      <p:regular r:id="rId17"/>
    </p:embeddedFont>
    <p:embeddedFont>
      <p:font typeface="Unbounded Medium"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918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Our project is a Personal Fitness Chatbot.
The idea is to build a chatbot that can understand basic fitness questions and give users simple, personalised guidance.
We’ll focus on things like workout plans, exercise advice, nutrition, motivation,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Many people get their fitness advice from the internet, but this advice is often quite general. It usually doesn’t consider someone’s goals, experience, equipment, or schedule.
Having a personal trainer would be more personalised, but it can be expensive, especially for beginners.
So, we want to explore whether an NLP chatbot can provide basic fitness support in a more affordable and accessible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some examples of what users might ask.
They could ask for a workout plan, exercise recommendations, form guidance, nutrition advice, progress logging, or motivation.
For example, if someone says, “Create a 3-day beginner workout plan using dumbbells,” the chatbot should understand that they want a workout plan.
It should also pick up the details: three days, beginner level, and dumbbells. These details can then be used to make the response more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main aim is to use NLP to understand fitness-related requests and provide basic personalised guidance.
We want the chatbot to identify what the user is asking and extract useful details from their message.
It should also remember basic information about the user and retrieve relevant exercise information.
Finally, we plan to use structured responses so the chatbot is more consistent and easier to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general flow of our system.
The user first enters a message. The system then cleans the text and identifies the user’s intent.
After that, it extracts details such as the user’s goal, equipment, experience level, or workout duration.
The chatbot can then use this information, together with the user profile and exercise database, to create a response.
Before giving the response, the system will also check for safety-related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planning to use three main NLP components.
The first is intent classification. This helps the chatbot understand whether the user wants a workout plan, exercise recommendation, nutrition advice, or something else.
The second is entity extraction. This identifies useful details such as exercises, equipment, body parts, goals, and duration.
The final part is response generation. We plan to use templates and information from our knowledge base instead of generating completely unrestricted answers.
This should make the chatbot’s responses more consistent and reduce the chance of unsupported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training data, we plan to use fitness-related intent examples divided into training, validation, and test sets.
We will try to include different ways of asking similar questions, including informal wording and common beginner expressions.
We will also create a structured exercise knowledge base. This can include the exercise name, target body part, difficulty, equipment, instructions, and common mistakes.
At the beginning, we will keep the fitness domain focused so that the information is easier to manage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evaluate the chatbot in a few different ways.
For intent classification, we will use measures such as accuracy and macro-F1.
For entity extraction, we will check whether the system correctly identifies information like exercises, goals, and equipment.
For retrieval, we will check whether relevant exercises appear in the top results.
We also plan to conduct some human evaluation to see whether the responses are clear, relevant, and safe.
The scores shown here are our proposed targets, not results that we have achieved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plan to complete the project in four stages.
First, we will prepare the intents, training examples, and exercise knowledge base.
Next, we will build the intent classification, entity extraction, and safety components.
After that, we will connect the dialogue system, user profile, retrieval, and response templates.
Finally, we will build the Streamlit interface and evaluate the chatbot using realistic examples.
The final goal is to produce a working prototype that gives simple and personalised fitness guidance.
To conclude, this project will explore how NLP can be used to create a more affordable and accessible fitness assistant.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3E8EF"/>
          </a:solidFill>
          <a:ln/>
        </p:spPr>
      </p:sp>
      <p:sp>
        <p:nvSpPr>
          <p:cNvPr id="3" name="Shape 1"/>
          <p:cNvSpPr/>
          <p:nvPr/>
        </p:nvSpPr>
        <p:spPr>
          <a:xfrm>
            <a:off x="0" y="0"/>
            <a:ext cx="12191695" cy="6858000"/>
          </a:xfrm>
          <a:prstGeom prst="rect">
            <a:avLst/>
          </a:prstGeom>
          <a:solidFill>
            <a:srgbClr val="F7F9FC"/>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2120106"/>
            <a:ext cx="6299042"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PROJECT PRE-PROPOSAL</a:t>
            </a:r>
            <a:endParaRPr lang="en-US" sz="1200" dirty="0"/>
          </a:p>
        </p:txBody>
      </p:sp>
      <p:sp>
        <p:nvSpPr>
          <p:cNvPr id="3" name="Text 1"/>
          <p:cNvSpPr/>
          <p:nvPr/>
        </p:nvSpPr>
        <p:spPr>
          <a:xfrm>
            <a:off x="609585" y="2400697"/>
            <a:ext cx="5689458" cy="1016000"/>
          </a:xfrm>
          <a:prstGeom prst="rect">
            <a:avLst/>
          </a:prstGeom>
          <a:noFill/>
          <a:ln/>
        </p:spPr>
        <p:txBody>
          <a:bodyPr wrap="square" lIns="0" tIns="0" rIns="0" bIns="0" rtlCol="0" anchor="t">
            <a:normAutofit/>
          </a:bodyPr>
          <a:lstStyle/>
          <a:p>
            <a:pPr marL="0" indent="0" algn="l">
              <a:lnSpc>
                <a:spcPct val="83000"/>
              </a:lnSpc>
              <a:buNone/>
            </a:pPr>
            <a:r>
              <a:rPr lang="en-US" sz="4000" b="1" kern="0" spc="-80" dirty="0">
                <a:solidFill>
                  <a:srgbClr val="1F2933"/>
                </a:solidFill>
                <a:latin typeface="Unbounded Bold" pitchFamily="34" charset="0"/>
                <a:ea typeface="Unbounded Bold" pitchFamily="34" charset="-122"/>
                <a:cs typeface="Unbounded Bold" pitchFamily="34" charset="-120"/>
              </a:rPr>
              <a:t>Personal Fitness Chatbot</a:t>
            </a:r>
            <a:endParaRPr lang="en-US" sz="4000" dirty="0"/>
          </a:p>
        </p:txBody>
      </p:sp>
      <p:sp>
        <p:nvSpPr>
          <p:cNvPr id="4" name="Shape 2"/>
          <p:cNvSpPr/>
          <p:nvPr/>
        </p:nvSpPr>
        <p:spPr>
          <a:xfrm>
            <a:off x="609585" y="3594497"/>
            <a:ext cx="1339023" cy="286544"/>
          </a:xfrm>
          <a:prstGeom prst="roundRect">
            <a:avLst>
              <a:gd name="adj" fmla="val 21274"/>
            </a:avLst>
          </a:prstGeom>
          <a:noFill/>
          <a:ln w="6350">
            <a:solidFill>
              <a:srgbClr val="1F2933"/>
            </a:solidFill>
            <a:prstDash val="solid"/>
          </a:ln>
        </p:spPr>
      </p:sp>
      <p:sp>
        <p:nvSpPr>
          <p:cNvPr id="5" name="Text 3"/>
          <p:cNvSpPr/>
          <p:nvPr/>
        </p:nvSpPr>
        <p:spPr>
          <a:xfrm>
            <a:off x="723882" y="3645297"/>
            <a:ext cx="1720013" cy="184944"/>
          </a:xfrm>
          <a:prstGeom prst="rect">
            <a:avLst/>
          </a:prstGeom>
          <a:noFill/>
          <a:ln/>
        </p:spPr>
        <p:txBody>
          <a:bodyPr wrap="none" lIns="0" tIns="0" rIns="0" bIns="0" rtlCol="0" anchor="t"/>
          <a:lstStyle/>
          <a:p>
            <a:pPr marL="0" indent="0" algn="l">
              <a:lnSpc>
                <a:spcPct val="108000"/>
              </a:lnSpc>
              <a:buNone/>
            </a:pPr>
            <a:r>
              <a:rPr lang="en-US" sz="1100" kern="0" spc="11" dirty="0">
                <a:solidFill>
                  <a:srgbClr val="1F2933"/>
                </a:solidFill>
                <a:latin typeface="Martian Mono Medium" pitchFamily="34" charset="0"/>
                <a:ea typeface="Martian Mono Medium" pitchFamily="34" charset="-122"/>
                <a:cs typeface="Martian Mono Medium" pitchFamily="34" charset="-120"/>
              </a:rPr>
              <a:t>CS425 G1-T3</a:t>
            </a:r>
            <a:endParaRPr lang="en-US" sz="1100" dirty="0"/>
          </a:p>
        </p:txBody>
      </p:sp>
      <p:sp>
        <p:nvSpPr>
          <p:cNvPr id="6" name="Shape 4"/>
          <p:cNvSpPr/>
          <p:nvPr/>
        </p:nvSpPr>
        <p:spPr>
          <a:xfrm>
            <a:off x="609585" y="3982641"/>
            <a:ext cx="5477829" cy="286544"/>
          </a:xfrm>
          <a:prstGeom prst="roundRect">
            <a:avLst>
              <a:gd name="adj" fmla="val 21274"/>
            </a:avLst>
          </a:prstGeom>
          <a:noFill/>
          <a:ln w="6350">
            <a:solidFill>
              <a:srgbClr val="1F2933"/>
            </a:solidFill>
            <a:prstDash val="solid"/>
          </a:ln>
        </p:spPr>
      </p:sp>
      <p:sp>
        <p:nvSpPr>
          <p:cNvPr id="7" name="Text 5"/>
          <p:cNvSpPr/>
          <p:nvPr/>
        </p:nvSpPr>
        <p:spPr>
          <a:xfrm>
            <a:off x="723882" y="4033441"/>
            <a:ext cx="5858820" cy="184944"/>
          </a:xfrm>
          <a:prstGeom prst="rect">
            <a:avLst/>
          </a:prstGeom>
          <a:noFill/>
          <a:ln/>
        </p:spPr>
        <p:txBody>
          <a:bodyPr wrap="none" lIns="0" tIns="0" rIns="0" bIns="0" rtlCol="0" anchor="t"/>
          <a:lstStyle/>
          <a:p>
            <a:pPr marL="0" indent="0" algn="l">
              <a:lnSpc>
                <a:spcPct val="108000"/>
              </a:lnSpc>
              <a:buNone/>
            </a:pPr>
            <a:r>
              <a:rPr lang="en-US" sz="1100" kern="0" spc="11" dirty="0">
                <a:solidFill>
                  <a:srgbClr val="1F2933"/>
                </a:solidFill>
                <a:latin typeface="Martian Mono Medium" pitchFamily="34" charset="0"/>
                <a:ea typeface="Martian Mono Medium" pitchFamily="34" charset="-122"/>
                <a:cs typeface="Martian Mono Medium" pitchFamily="34" charset="-120"/>
              </a:rPr>
              <a:t>Members: Jia Kai, Michael, Jerome, Hsien Ray, Qi Xun</a:t>
            </a:r>
            <a:endParaRPr lang="en-US" sz="1100" dirty="0"/>
          </a:p>
        </p:txBody>
      </p:sp>
      <p:pic>
        <p:nvPicPr>
          <p:cNvPr id="8" name="Image 0" descr="preencoded.png"/>
          <p:cNvPicPr>
            <a:picLocks noChangeAspect="1"/>
          </p:cNvPicPr>
          <p:nvPr/>
        </p:nvPicPr>
        <p:blipFill>
          <a:blip r:embed="rId3"/>
          <a:stretch>
            <a:fillRect/>
          </a:stretch>
        </p:blipFill>
        <p:spPr>
          <a:xfrm>
            <a:off x="6908627" y="0"/>
            <a:ext cx="528306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Problem Statement</a:t>
            </a:r>
            <a:endParaRPr lang="en-US" sz="3200" dirty="0"/>
          </a:p>
        </p:txBody>
      </p:sp>
      <p:pic>
        <p:nvPicPr>
          <p:cNvPr id="3" name="Image 0" descr="preencoded.png"/>
          <p:cNvPicPr>
            <a:picLocks noChangeAspect="1"/>
          </p:cNvPicPr>
          <p:nvPr/>
        </p:nvPicPr>
        <p:blipFill>
          <a:blip r:embed="rId3"/>
          <a:stretch>
            <a:fillRect/>
          </a:stretch>
        </p:blipFill>
        <p:spPr>
          <a:xfrm>
            <a:off x="609585" y="2275780"/>
            <a:ext cx="406390" cy="406400"/>
          </a:xfrm>
          <a:prstGeom prst="rect">
            <a:avLst/>
          </a:prstGeom>
        </p:spPr>
      </p:pic>
      <p:sp>
        <p:nvSpPr>
          <p:cNvPr id="4" name="Text 1"/>
          <p:cNvSpPr/>
          <p:nvPr/>
        </p:nvSpPr>
        <p:spPr>
          <a:xfrm>
            <a:off x="609585" y="2866330"/>
            <a:ext cx="4876678" cy="363141"/>
          </a:xfrm>
          <a:prstGeom prst="rect">
            <a:avLst/>
          </a:prstGeom>
          <a:noFill/>
          <a:ln/>
        </p:spPr>
        <p:txBody>
          <a:bodyPr wrap="none" lIns="0" tIns="0" rIns="0" bIns="0" rtlCol="0" anchor="t"/>
          <a:lstStyle/>
          <a:p>
            <a:pPr marL="0" indent="0" algn="l">
              <a:lnSpc>
                <a:spcPct val="92000"/>
              </a:lnSpc>
              <a:buNone/>
            </a:pPr>
            <a:r>
              <a:rPr lang="en-US" sz="2600" b="1" kern="0" spc="-39" dirty="0">
                <a:solidFill>
                  <a:srgbClr val="1F2933"/>
                </a:solidFill>
                <a:latin typeface="Unbounded Bold" pitchFamily="34" charset="0"/>
                <a:ea typeface="Unbounded Bold" pitchFamily="34" charset="-122"/>
                <a:cs typeface="Unbounded Bold" pitchFamily="34" charset="-120"/>
              </a:rPr>
              <a:t>Generic fitness advice</a:t>
            </a:r>
            <a:endParaRPr lang="en-US" sz="2600" dirty="0"/>
          </a:p>
        </p:txBody>
      </p:sp>
      <p:sp>
        <p:nvSpPr>
          <p:cNvPr id="5" name="Text 2"/>
          <p:cNvSpPr/>
          <p:nvPr/>
        </p:nvSpPr>
        <p:spPr>
          <a:xfrm>
            <a:off x="609585" y="3432671"/>
            <a:ext cx="4876678"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Online recommendations are often broad and one-size-fits-all. They do not account for a user's goals, experience level, available equipment, or schedule.</a:t>
            </a:r>
            <a:endParaRPr lang="en-US" sz="1600" dirty="0"/>
          </a:p>
        </p:txBody>
      </p:sp>
      <p:pic>
        <p:nvPicPr>
          <p:cNvPr id="6" name="Image 1" descr="preencoded.png"/>
          <p:cNvPicPr>
            <a:picLocks noChangeAspect="1"/>
          </p:cNvPicPr>
          <p:nvPr/>
        </p:nvPicPr>
        <p:blipFill>
          <a:blip r:embed="rId4"/>
          <a:stretch>
            <a:fillRect/>
          </a:stretch>
        </p:blipFill>
        <p:spPr>
          <a:xfrm>
            <a:off x="6705432" y="2275780"/>
            <a:ext cx="406390" cy="406400"/>
          </a:xfrm>
          <a:prstGeom prst="rect">
            <a:avLst/>
          </a:prstGeom>
        </p:spPr>
      </p:pic>
      <p:sp>
        <p:nvSpPr>
          <p:cNvPr id="7" name="Text 3"/>
          <p:cNvSpPr/>
          <p:nvPr/>
        </p:nvSpPr>
        <p:spPr>
          <a:xfrm>
            <a:off x="6705432" y="2866330"/>
            <a:ext cx="4876678" cy="726281"/>
          </a:xfrm>
          <a:prstGeom prst="rect">
            <a:avLst/>
          </a:prstGeom>
          <a:noFill/>
          <a:ln/>
        </p:spPr>
        <p:txBody>
          <a:bodyPr wrap="square" lIns="0" tIns="0" rIns="0" bIns="0" rtlCol="0" anchor="t">
            <a:normAutofit/>
          </a:bodyPr>
          <a:lstStyle/>
          <a:p>
            <a:pPr marL="0" indent="0" algn="l">
              <a:lnSpc>
                <a:spcPct val="92000"/>
              </a:lnSpc>
              <a:buNone/>
            </a:pPr>
            <a:r>
              <a:rPr lang="en-US" sz="2600" b="1" kern="0" spc="-39" dirty="0">
                <a:solidFill>
                  <a:srgbClr val="1F2933"/>
                </a:solidFill>
                <a:latin typeface="Unbounded Bold" pitchFamily="34" charset="0"/>
                <a:ea typeface="Unbounded Bold" pitchFamily="34" charset="-122"/>
                <a:cs typeface="Unbounded Bold" pitchFamily="34" charset="-120"/>
              </a:rPr>
              <a:t>Personal training is expensive</a:t>
            </a:r>
            <a:endParaRPr lang="en-US" sz="2600" dirty="0"/>
          </a:p>
        </p:txBody>
      </p:sp>
      <p:sp>
        <p:nvSpPr>
          <p:cNvPr id="8" name="Text 4"/>
          <p:cNvSpPr/>
          <p:nvPr/>
        </p:nvSpPr>
        <p:spPr>
          <a:xfrm>
            <a:off x="6705432" y="3795812"/>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Professional one-to-one training can be unaffordable for many beginners and regular users.</a:t>
            </a:r>
            <a:endParaRPr lang="en-US" sz="1600" dirty="0"/>
          </a:p>
        </p:txBody>
      </p:sp>
      <p:sp>
        <p:nvSpPr>
          <p:cNvPr id="9" name="Text 5"/>
          <p:cNvSpPr/>
          <p:nvPr/>
        </p:nvSpPr>
        <p:spPr>
          <a:xfrm>
            <a:off x="609585" y="5679480"/>
            <a:ext cx="10972526"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There is a need for an affordable conversational system that can understand users’ fitness goals and provide basic personalised guidance.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1198959"/>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User Scenarios</a:t>
            </a:r>
            <a:endParaRPr lang="en-US" sz="3200" dirty="0"/>
          </a:p>
        </p:txBody>
      </p:sp>
      <p:sp>
        <p:nvSpPr>
          <p:cNvPr id="3" name="Shape 1"/>
          <p:cNvSpPr/>
          <p:nvPr/>
        </p:nvSpPr>
        <p:spPr>
          <a:xfrm>
            <a:off x="609585" y="1849140"/>
            <a:ext cx="6400640" cy="3809901"/>
          </a:xfrm>
          <a:prstGeom prst="roundRect">
            <a:avLst>
              <a:gd name="adj" fmla="val 4000"/>
            </a:avLst>
          </a:prstGeom>
          <a:noFill/>
          <a:ln w="25399">
            <a:solidFill>
              <a:srgbClr val="8A94A3"/>
            </a:solidFill>
            <a:prstDash val="solid"/>
          </a:ln>
        </p:spPr>
      </p:sp>
      <p:sp>
        <p:nvSpPr>
          <p:cNvPr id="4" name="Text 2"/>
          <p:cNvSpPr/>
          <p:nvPr/>
        </p:nvSpPr>
        <p:spPr>
          <a:xfrm>
            <a:off x="863578" y="2164060"/>
            <a:ext cx="2571190"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SAMPLE USER QUERY</a:t>
            </a:r>
            <a:endParaRPr lang="en-US" sz="1300" dirty="0"/>
          </a:p>
        </p:txBody>
      </p:sp>
      <p:sp>
        <p:nvSpPr>
          <p:cNvPr id="5" name="Text 3"/>
          <p:cNvSpPr/>
          <p:nvPr/>
        </p:nvSpPr>
        <p:spPr>
          <a:xfrm>
            <a:off x="1168371" y="2614017"/>
            <a:ext cx="5587860" cy="1287661"/>
          </a:xfrm>
          <a:prstGeom prst="rect">
            <a:avLst/>
          </a:prstGeom>
          <a:noFill/>
          <a:ln/>
        </p:spPr>
        <p:txBody>
          <a:bodyPr wrap="square" lIns="0" tIns="0" rIns="0" bIns="0" rtlCol="0" anchor="t">
            <a:normAutofit/>
          </a:bodyPr>
          <a:lstStyle/>
          <a:p>
            <a:pPr marL="0" indent="0" algn="l">
              <a:lnSpc>
                <a:spcPct val="108000"/>
              </a:lnSpc>
              <a:buNone/>
            </a:pPr>
            <a:r>
              <a:rPr lang="en-US" sz="2600" dirty="0">
                <a:solidFill>
                  <a:srgbClr val="1F2933"/>
                </a:solidFill>
                <a:latin typeface="Unbounded Medium" pitchFamily="34" charset="0"/>
                <a:ea typeface="Unbounded Medium" pitchFamily="34" charset="-122"/>
                <a:cs typeface="Unbounded Medium" pitchFamily="34" charset="-120"/>
              </a:rPr>
              <a:t>“Create a 3-day beginner workout plan using dumbbells.”</a:t>
            </a:r>
            <a:endParaRPr lang="en-US" sz="2600" dirty="0"/>
          </a:p>
        </p:txBody>
      </p:sp>
      <p:sp>
        <p:nvSpPr>
          <p:cNvPr id="6" name="Shape 4"/>
          <p:cNvSpPr/>
          <p:nvPr/>
        </p:nvSpPr>
        <p:spPr>
          <a:xfrm>
            <a:off x="863578" y="2537817"/>
            <a:ext cx="38099" cy="1440061"/>
          </a:xfrm>
          <a:prstGeom prst="roundRect">
            <a:avLst>
              <a:gd name="adj" fmla="val 45000"/>
            </a:avLst>
          </a:prstGeom>
          <a:solidFill>
            <a:srgbClr val="1F5EFF"/>
          </a:solidFill>
          <a:ln/>
        </p:spPr>
      </p:sp>
      <p:sp>
        <p:nvSpPr>
          <p:cNvPr id="7" name="Text 5"/>
          <p:cNvSpPr/>
          <p:nvPr/>
        </p:nvSpPr>
        <p:spPr>
          <a:xfrm>
            <a:off x="863578" y="4079478"/>
            <a:ext cx="6146646"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EXTRACTED SLOT ENTITIES</a:t>
            </a:r>
            <a:endParaRPr lang="en-US" sz="1200" dirty="0"/>
          </a:p>
        </p:txBody>
      </p:sp>
      <p:sp>
        <p:nvSpPr>
          <p:cNvPr id="8" name="Shape 6"/>
          <p:cNvSpPr/>
          <p:nvPr/>
        </p:nvSpPr>
        <p:spPr>
          <a:xfrm>
            <a:off x="863578" y="4379119"/>
            <a:ext cx="2870128" cy="535781"/>
          </a:xfrm>
          <a:prstGeom prst="roundRect">
            <a:avLst>
              <a:gd name="adj" fmla="val 11377"/>
            </a:avLst>
          </a:prstGeom>
          <a:noFill/>
          <a:ln w="19050">
            <a:solidFill>
              <a:srgbClr val="1F5EFF"/>
            </a:solidFill>
            <a:prstDash val="solid"/>
          </a:ln>
        </p:spPr>
      </p:sp>
      <p:sp>
        <p:nvSpPr>
          <p:cNvPr id="9" name="Text 7"/>
          <p:cNvSpPr/>
          <p:nvPr/>
        </p:nvSpPr>
        <p:spPr>
          <a:xfrm>
            <a:off x="996925" y="4448969"/>
            <a:ext cx="2603435" cy="396081"/>
          </a:xfrm>
          <a:prstGeom prst="rect">
            <a:avLst/>
          </a:prstGeom>
          <a:noFill/>
          <a:ln/>
        </p:spPr>
        <p:txBody>
          <a:bodyPr wrap="square" lIns="0" tIns="0" rIns="0" bIns="0" rtlCol="0" anchor="t">
            <a:normAutofit/>
          </a:bodyPr>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intent: generate workout plan</a:t>
            </a:r>
            <a:endParaRPr lang="en-US" sz="1200" dirty="0"/>
          </a:p>
        </p:txBody>
      </p:sp>
      <p:sp>
        <p:nvSpPr>
          <p:cNvPr id="10" name="Shape 8"/>
          <p:cNvSpPr/>
          <p:nvPr/>
        </p:nvSpPr>
        <p:spPr>
          <a:xfrm>
            <a:off x="3886103" y="4379119"/>
            <a:ext cx="1973610" cy="337741"/>
          </a:xfrm>
          <a:prstGeom prst="roundRect">
            <a:avLst>
              <a:gd name="adj" fmla="val 18049"/>
            </a:avLst>
          </a:prstGeom>
          <a:noFill/>
          <a:ln w="19050">
            <a:solidFill>
              <a:srgbClr val="1F5EFF"/>
            </a:solidFill>
            <a:prstDash val="solid"/>
          </a:ln>
        </p:spPr>
      </p:sp>
      <p:sp>
        <p:nvSpPr>
          <p:cNvPr id="11" name="Text 9"/>
          <p:cNvSpPr/>
          <p:nvPr/>
        </p:nvSpPr>
        <p:spPr>
          <a:xfrm>
            <a:off x="4019449" y="4448969"/>
            <a:ext cx="2316501"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duration: 3 days</a:t>
            </a:r>
            <a:endParaRPr lang="en-US" sz="1200" dirty="0"/>
          </a:p>
        </p:txBody>
      </p:sp>
      <p:sp>
        <p:nvSpPr>
          <p:cNvPr id="12" name="Shape 10"/>
          <p:cNvSpPr/>
          <p:nvPr/>
        </p:nvSpPr>
        <p:spPr>
          <a:xfrm>
            <a:off x="863578" y="5067300"/>
            <a:ext cx="2400240" cy="337741"/>
          </a:xfrm>
          <a:prstGeom prst="roundRect">
            <a:avLst>
              <a:gd name="adj" fmla="val 18049"/>
            </a:avLst>
          </a:prstGeom>
          <a:noFill/>
          <a:ln w="19050">
            <a:solidFill>
              <a:srgbClr val="1F5EFF"/>
            </a:solidFill>
            <a:prstDash val="solid"/>
          </a:ln>
        </p:spPr>
      </p:sp>
      <p:sp>
        <p:nvSpPr>
          <p:cNvPr id="13" name="Text 11"/>
          <p:cNvSpPr/>
          <p:nvPr/>
        </p:nvSpPr>
        <p:spPr>
          <a:xfrm>
            <a:off x="996925" y="5137150"/>
            <a:ext cx="2736782"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experience: beginner</a:t>
            </a:r>
            <a:endParaRPr lang="en-US" sz="1200" dirty="0"/>
          </a:p>
        </p:txBody>
      </p:sp>
      <p:sp>
        <p:nvSpPr>
          <p:cNvPr id="14" name="Shape 12"/>
          <p:cNvSpPr/>
          <p:nvPr/>
        </p:nvSpPr>
        <p:spPr>
          <a:xfrm>
            <a:off x="3886103" y="5067300"/>
            <a:ext cx="2400240" cy="337741"/>
          </a:xfrm>
          <a:prstGeom prst="roundRect">
            <a:avLst>
              <a:gd name="adj" fmla="val 18049"/>
            </a:avLst>
          </a:prstGeom>
          <a:noFill/>
          <a:ln w="19050">
            <a:solidFill>
              <a:srgbClr val="1F5EFF"/>
            </a:solidFill>
            <a:prstDash val="solid"/>
          </a:ln>
        </p:spPr>
      </p:sp>
      <p:sp>
        <p:nvSpPr>
          <p:cNvPr id="15" name="Text 13"/>
          <p:cNvSpPr/>
          <p:nvPr/>
        </p:nvSpPr>
        <p:spPr>
          <a:xfrm>
            <a:off x="4019449" y="5137150"/>
            <a:ext cx="2736782"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equipment: dumbbells</a:t>
            </a:r>
            <a:endParaRPr lang="en-US" sz="1200" dirty="0"/>
          </a:p>
        </p:txBody>
      </p:sp>
      <p:sp>
        <p:nvSpPr>
          <p:cNvPr id="16" name="Text 14"/>
          <p:cNvSpPr/>
          <p:nvPr/>
        </p:nvSpPr>
        <p:spPr>
          <a:xfrm>
            <a:off x="7314918" y="2077740"/>
            <a:ext cx="4267192"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Six Scenarios</a:t>
            </a:r>
            <a:endParaRPr lang="en-US" sz="1600" dirty="0"/>
          </a:p>
        </p:txBody>
      </p:sp>
      <p:sp>
        <p:nvSpPr>
          <p:cNvPr id="17" name="Shape 15"/>
          <p:cNvSpPr/>
          <p:nvPr/>
        </p:nvSpPr>
        <p:spPr>
          <a:xfrm>
            <a:off x="7314918" y="2538710"/>
            <a:ext cx="457189" cy="38100"/>
          </a:xfrm>
          <a:prstGeom prst="roundRect">
            <a:avLst>
              <a:gd name="adj" fmla="val 49999"/>
            </a:avLst>
          </a:prstGeom>
          <a:solidFill>
            <a:srgbClr val="1F5EFF"/>
          </a:solidFill>
          <a:ln/>
        </p:spPr>
      </p:sp>
      <p:sp>
        <p:nvSpPr>
          <p:cNvPr id="18" name="Text 16"/>
          <p:cNvSpPr/>
          <p:nvPr/>
        </p:nvSpPr>
        <p:spPr>
          <a:xfrm>
            <a:off x="7314918" y="2748260"/>
            <a:ext cx="4267192" cy="1960761"/>
          </a:xfrm>
          <a:prstGeom prst="rect">
            <a:avLst/>
          </a:prstGeom>
          <a:noFill/>
          <a:ln/>
        </p:spPr>
        <p:txBody>
          <a:bodyPr wrap="square" lIns="0" tIns="0" rIns="0" bIns="0" rtlCol="0" anchor="t">
            <a:normAutofit/>
          </a:bodyPr>
          <a:lstStyle/>
          <a:p>
            <a:pPr marL="325120" indent="-325120" algn="l">
              <a:lnSpc>
                <a:spcPct val="117000"/>
              </a:lnSpc>
              <a:buSzPct val="100000"/>
              <a:buFont typeface="+mj-lt"/>
              <a:buAutoNum type="arabicPeriod"/>
            </a:pPr>
            <a:r>
              <a:rPr lang="en-US" sz="1600" dirty="0">
                <a:solidFill>
                  <a:srgbClr val="1F2933"/>
                </a:solidFill>
                <a:latin typeface="Figtree" pitchFamily="34" charset="0"/>
                <a:ea typeface="Figtree" pitchFamily="34" charset="-122"/>
                <a:cs typeface="Figtree" pitchFamily="34" charset="-120"/>
              </a:rPr>
              <a:t>Workout planning</a:t>
            </a:r>
            <a:endParaRPr lang="en-US" sz="1600" dirty="0"/>
          </a:p>
          <a:p>
            <a:pPr marL="325120" indent="-325120" algn="l">
              <a:lnSpc>
                <a:spcPct val="117000"/>
              </a:lnSpc>
              <a:buSzPct val="100000"/>
              <a:buFont typeface="+mj-lt"/>
              <a:buAutoNum type="arabicPeriod" startAt="2"/>
            </a:pPr>
            <a:r>
              <a:rPr lang="en-US" sz="1600" dirty="0">
                <a:solidFill>
                  <a:srgbClr val="1F2933"/>
                </a:solidFill>
                <a:latin typeface="Figtree" pitchFamily="34" charset="0"/>
                <a:ea typeface="Figtree" pitchFamily="34" charset="-122"/>
                <a:cs typeface="Figtree" pitchFamily="34" charset="-120"/>
              </a:rPr>
              <a:t>Exercise recommendations</a:t>
            </a:r>
            <a:endParaRPr lang="en-US" sz="1600" dirty="0"/>
          </a:p>
          <a:p>
            <a:pPr marL="325120" indent="-325120" algn="l">
              <a:lnSpc>
                <a:spcPct val="117000"/>
              </a:lnSpc>
              <a:buSzPct val="100000"/>
              <a:buFont typeface="+mj-lt"/>
              <a:buAutoNum type="arabicPeriod" startAt="3"/>
            </a:pPr>
            <a:r>
              <a:rPr lang="en-US" sz="1600" dirty="0">
                <a:solidFill>
                  <a:srgbClr val="1F2933"/>
                </a:solidFill>
                <a:latin typeface="Figtree" pitchFamily="34" charset="0"/>
                <a:ea typeface="Figtree" pitchFamily="34" charset="-122"/>
                <a:cs typeface="Figtree" pitchFamily="34" charset="-120"/>
              </a:rPr>
              <a:t>Exercise technique</a:t>
            </a:r>
            <a:endParaRPr lang="en-US" sz="1600" dirty="0"/>
          </a:p>
          <a:p>
            <a:pPr marL="325120" indent="-325120" algn="l">
              <a:lnSpc>
                <a:spcPct val="117000"/>
              </a:lnSpc>
              <a:buSzPct val="100000"/>
              <a:buFont typeface="+mj-lt"/>
              <a:buAutoNum type="arabicPeriod" startAt="4"/>
            </a:pPr>
            <a:r>
              <a:rPr lang="en-US" sz="1600" dirty="0">
                <a:solidFill>
                  <a:srgbClr val="1F2933"/>
                </a:solidFill>
                <a:latin typeface="Figtree" pitchFamily="34" charset="0"/>
                <a:ea typeface="Figtree" pitchFamily="34" charset="-122"/>
                <a:cs typeface="Figtree" pitchFamily="34" charset="-120"/>
              </a:rPr>
              <a:t>Nutrition guidance</a:t>
            </a:r>
            <a:endParaRPr lang="en-US" sz="1600" dirty="0"/>
          </a:p>
          <a:p>
            <a:pPr marL="325120" indent="-325120" algn="l">
              <a:lnSpc>
                <a:spcPct val="117000"/>
              </a:lnSpc>
              <a:buSzPct val="100000"/>
              <a:buFont typeface="+mj-lt"/>
              <a:buAutoNum type="arabicPeriod" startAt="5"/>
            </a:pPr>
            <a:r>
              <a:rPr lang="en-US" sz="1600" dirty="0">
                <a:solidFill>
                  <a:srgbClr val="1F2933"/>
                </a:solidFill>
                <a:latin typeface="Figtree" pitchFamily="34" charset="0"/>
                <a:ea typeface="Figtree" pitchFamily="34" charset="-122"/>
                <a:cs typeface="Figtree" pitchFamily="34" charset="-120"/>
              </a:rPr>
              <a:t>Progress logging</a:t>
            </a:r>
            <a:endParaRPr lang="en-US" sz="1600" dirty="0"/>
          </a:p>
          <a:p>
            <a:pPr marL="325120" indent="-325120" algn="l">
              <a:lnSpc>
                <a:spcPct val="117000"/>
              </a:lnSpc>
              <a:buSzPct val="100000"/>
              <a:buFont typeface="+mj-lt"/>
              <a:buAutoNum type="arabicPeriod" startAt="6"/>
            </a:pPr>
            <a:r>
              <a:rPr lang="en-US" sz="1600" dirty="0">
                <a:solidFill>
                  <a:srgbClr val="1F2933"/>
                </a:solidFill>
                <a:latin typeface="Figtree" pitchFamily="34" charset="0"/>
                <a:ea typeface="Figtree" pitchFamily="34" charset="-122"/>
                <a:cs typeface="Figtree" pitchFamily="34" charset="-120"/>
              </a:rPr>
              <a:t>Motivation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6095848"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Aim &amp; Objectives</a:t>
            </a:r>
            <a:endParaRPr lang="en-US" sz="3200" dirty="0"/>
          </a:p>
        </p:txBody>
      </p:sp>
      <p:sp>
        <p:nvSpPr>
          <p:cNvPr id="3" name="Text 1"/>
          <p:cNvSpPr/>
          <p:nvPr/>
        </p:nvSpPr>
        <p:spPr>
          <a:xfrm>
            <a:off x="609585" y="1259780"/>
            <a:ext cx="5333867"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F2933"/>
                </a:solidFill>
                <a:latin typeface="Figtree" pitchFamily="34" charset="0"/>
                <a:ea typeface="Figtree" pitchFamily="34" charset="-122"/>
                <a:cs typeface="Figtree" pitchFamily="34" charset="-120"/>
              </a:rPr>
              <a:t>NLP will interpret requests and provide basic personalised fitness guidance.</a:t>
            </a:r>
            <a:endParaRPr lang="en-US" sz="1800" dirty="0"/>
          </a:p>
        </p:txBody>
      </p:sp>
      <p:sp>
        <p:nvSpPr>
          <p:cNvPr id="4" name="Shape 2"/>
          <p:cNvSpPr/>
          <p:nvPr/>
        </p:nvSpPr>
        <p:spPr>
          <a:xfrm>
            <a:off x="609585" y="2083891"/>
            <a:ext cx="1930352" cy="2295723"/>
          </a:xfrm>
          <a:prstGeom prst="roundRect">
            <a:avLst>
              <a:gd name="adj" fmla="val 6316"/>
            </a:avLst>
          </a:prstGeom>
          <a:noFill/>
          <a:ln w="12700">
            <a:solidFill>
              <a:srgbClr val="1F5EFF"/>
            </a:solidFill>
            <a:prstDash val="solid"/>
          </a:ln>
        </p:spPr>
      </p:sp>
      <p:sp>
        <p:nvSpPr>
          <p:cNvPr id="5" name="Shape 3"/>
          <p:cNvSpPr/>
          <p:nvPr/>
        </p:nvSpPr>
        <p:spPr>
          <a:xfrm>
            <a:off x="774681" y="2223591"/>
            <a:ext cx="279393" cy="279400"/>
          </a:xfrm>
          <a:prstGeom prst="ellipse">
            <a:avLst/>
          </a:prstGeom>
          <a:solidFill>
            <a:srgbClr val="1F5EFF"/>
          </a:solidFill>
          <a:ln/>
        </p:spPr>
      </p:sp>
      <p:sp>
        <p:nvSpPr>
          <p:cNvPr id="6" name="Text 4"/>
          <p:cNvSpPr/>
          <p:nvPr/>
        </p:nvSpPr>
        <p:spPr>
          <a:xfrm>
            <a:off x="885108" y="2293441"/>
            <a:ext cx="668122"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1</a:t>
            </a:r>
            <a:endParaRPr lang="en-US" sz="1100" dirty="0"/>
          </a:p>
        </p:txBody>
      </p:sp>
      <p:sp>
        <p:nvSpPr>
          <p:cNvPr id="7" name="Text 5"/>
          <p:cNvSpPr/>
          <p:nvPr/>
        </p:nvSpPr>
        <p:spPr>
          <a:xfrm>
            <a:off x="774681" y="2585541"/>
            <a:ext cx="1600160"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Fitness intents</a:t>
            </a:r>
            <a:endParaRPr lang="en-US" sz="1600" dirty="0"/>
          </a:p>
        </p:txBody>
      </p:sp>
      <p:sp>
        <p:nvSpPr>
          <p:cNvPr id="8" name="Text 6"/>
          <p:cNvSpPr/>
          <p:nvPr/>
        </p:nvSpPr>
        <p:spPr>
          <a:xfrm>
            <a:off x="774681" y="2995712"/>
            <a:ext cx="1600160"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Classify intents and extract exercise, equipment, goals, duration, and experience.</a:t>
            </a:r>
            <a:endParaRPr lang="en-US" sz="1400" dirty="0"/>
          </a:p>
        </p:txBody>
      </p:sp>
      <p:sp>
        <p:nvSpPr>
          <p:cNvPr id="9" name="Shape 7"/>
          <p:cNvSpPr/>
          <p:nvPr/>
        </p:nvSpPr>
        <p:spPr>
          <a:xfrm>
            <a:off x="2692333" y="2083891"/>
            <a:ext cx="1930352" cy="2295723"/>
          </a:xfrm>
          <a:prstGeom prst="roundRect">
            <a:avLst>
              <a:gd name="adj" fmla="val 6316"/>
            </a:avLst>
          </a:prstGeom>
          <a:noFill/>
          <a:ln w="12700">
            <a:solidFill>
              <a:srgbClr val="1F5EFF"/>
            </a:solidFill>
            <a:prstDash val="solid"/>
          </a:ln>
        </p:spPr>
      </p:sp>
      <p:sp>
        <p:nvSpPr>
          <p:cNvPr id="10" name="Shape 8"/>
          <p:cNvSpPr/>
          <p:nvPr/>
        </p:nvSpPr>
        <p:spPr>
          <a:xfrm>
            <a:off x="2857429" y="2223591"/>
            <a:ext cx="279393" cy="279400"/>
          </a:xfrm>
          <a:prstGeom prst="ellipse">
            <a:avLst/>
          </a:prstGeom>
          <a:solidFill>
            <a:srgbClr val="1F5EFF"/>
          </a:solidFill>
          <a:ln/>
        </p:spPr>
      </p:sp>
      <p:sp>
        <p:nvSpPr>
          <p:cNvPr id="11" name="Text 9"/>
          <p:cNvSpPr/>
          <p:nvPr/>
        </p:nvSpPr>
        <p:spPr>
          <a:xfrm>
            <a:off x="2957240" y="2293441"/>
            <a:ext cx="689355"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2</a:t>
            </a:r>
            <a:endParaRPr lang="en-US" sz="1100" dirty="0"/>
          </a:p>
        </p:txBody>
      </p:sp>
      <p:sp>
        <p:nvSpPr>
          <p:cNvPr id="12" name="Text 10"/>
          <p:cNvSpPr/>
          <p:nvPr/>
        </p:nvSpPr>
        <p:spPr>
          <a:xfrm>
            <a:off x="2857429" y="2585541"/>
            <a:ext cx="1600160"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User profile</a:t>
            </a:r>
            <a:endParaRPr lang="en-US" sz="1600" dirty="0"/>
          </a:p>
        </p:txBody>
      </p:sp>
      <p:sp>
        <p:nvSpPr>
          <p:cNvPr id="13" name="Text 11"/>
          <p:cNvSpPr/>
          <p:nvPr/>
        </p:nvSpPr>
        <p:spPr>
          <a:xfrm>
            <a:off x="2857429" y="2995712"/>
            <a:ext cx="1600160"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Maintain a user profile and retrieve from a structured exercise knowledge base.</a:t>
            </a:r>
            <a:endParaRPr lang="en-US" sz="1400" dirty="0"/>
          </a:p>
        </p:txBody>
      </p:sp>
      <p:sp>
        <p:nvSpPr>
          <p:cNvPr id="14" name="Shape 12"/>
          <p:cNvSpPr/>
          <p:nvPr/>
        </p:nvSpPr>
        <p:spPr>
          <a:xfrm>
            <a:off x="4775081" y="2083891"/>
            <a:ext cx="1930352" cy="2295723"/>
          </a:xfrm>
          <a:prstGeom prst="roundRect">
            <a:avLst>
              <a:gd name="adj" fmla="val 6316"/>
            </a:avLst>
          </a:prstGeom>
          <a:noFill/>
          <a:ln w="12700">
            <a:solidFill>
              <a:srgbClr val="1F5EFF"/>
            </a:solidFill>
            <a:prstDash val="solid"/>
          </a:ln>
        </p:spPr>
      </p:sp>
      <p:sp>
        <p:nvSpPr>
          <p:cNvPr id="15" name="Shape 13"/>
          <p:cNvSpPr/>
          <p:nvPr/>
        </p:nvSpPr>
        <p:spPr>
          <a:xfrm>
            <a:off x="4940176" y="2223591"/>
            <a:ext cx="279393" cy="279400"/>
          </a:xfrm>
          <a:prstGeom prst="ellipse">
            <a:avLst/>
          </a:prstGeom>
          <a:solidFill>
            <a:srgbClr val="1F5EFF"/>
          </a:solidFill>
          <a:ln/>
        </p:spPr>
      </p:sp>
      <p:sp>
        <p:nvSpPr>
          <p:cNvPr id="16" name="Text 14"/>
          <p:cNvSpPr/>
          <p:nvPr/>
        </p:nvSpPr>
        <p:spPr>
          <a:xfrm>
            <a:off x="5041377" y="2293441"/>
            <a:ext cx="686577"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3</a:t>
            </a:r>
            <a:endParaRPr lang="en-US" sz="1100" dirty="0"/>
          </a:p>
        </p:txBody>
      </p:sp>
      <p:sp>
        <p:nvSpPr>
          <p:cNvPr id="17" name="Text 15"/>
          <p:cNvSpPr/>
          <p:nvPr/>
        </p:nvSpPr>
        <p:spPr>
          <a:xfrm>
            <a:off x="4940176" y="2585541"/>
            <a:ext cx="1600160"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Responses</a:t>
            </a:r>
            <a:endParaRPr lang="en-US" sz="1600" dirty="0"/>
          </a:p>
        </p:txBody>
      </p:sp>
      <p:sp>
        <p:nvSpPr>
          <p:cNvPr id="18" name="Text 16"/>
          <p:cNvSpPr/>
          <p:nvPr/>
        </p:nvSpPr>
        <p:spPr>
          <a:xfrm>
            <a:off x="4940176" y="2995712"/>
            <a:ext cx="1600160"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Generate templated, safety-checked responses in a Streamlit prototype.</a:t>
            </a:r>
            <a:endParaRPr lang="en-US" sz="1400" dirty="0"/>
          </a:p>
        </p:txBody>
      </p:sp>
      <p:pic>
        <p:nvPicPr>
          <p:cNvPr id="19"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System Architecture</a:t>
            </a:r>
            <a:endParaRPr lang="en-US" sz="3200" dirty="0"/>
          </a:p>
        </p:txBody>
      </p:sp>
      <p:sp>
        <p:nvSpPr>
          <p:cNvPr id="3" name="Text 1"/>
          <p:cNvSpPr/>
          <p:nvPr/>
        </p:nvSpPr>
        <p:spPr>
          <a:xfrm>
            <a:off x="685783" y="2669877"/>
            <a:ext cx="825876"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01</a:t>
            </a:r>
            <a:endParaRPr lang="en-US" sz="1600" dirty="0"/>
          </a:p>
        </p:txBody>
      </p:sp>
      <p:sp>
        <p:nvSpPr>
          <p:cNvPr id="4" name="Shape 2"/>
          <p:cNvSpPr/>
          <p:nvPr/>
        </p:nvSpPr>
        <p:spPr>
          <a:xfrm>
            <a:off x="609585" y="2954338"/>
            <a:ext cx="1828754" cy="19050"/>
          </a:xfrm>
          <a:prstGeom prst="rect">
            <a:avLst/>
          </a:prstGeom>
          <a:solidFill>
            <a:srgbClr val="1F5EFF"/>
          </a:solidFill>
          <a:ln/>
        </p:spPr>
      </p:sp>
      <p:sp>
        <p:nvSpPr>
          <p:cNvPr id="5" name="Text 3"/>
          <p:cNvSpPr/>
          <p:nvPr/>
        </p:nvSpPr>
        <p:spPr>
          <a:xfrm>
            <a:off x="685783"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1. Input</a:t>
            </a:r>
            <a:endParaRPr lang="en-US" sz="1600" dirty="0"/>
          </a:p>
        </p:txBody>
      </p:sp>
      <p:sp>
        <p:nvSpPr>
          <p:cNvPr id="6" name="Text 4"/>
          <p:cNvSpPr/>
          <p:nvPr/>
        </p:nvSpPr>
        <p:spPr>
          <a:xfrm>
            <a:off x="685783"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Raw message</a:t>
            </a:r>
            <a:endParaRPr lang="en-US" sz="1400" dirty="0"/>
          </a:p>
        </p:txBody>
      </p:sp>
      <p:sp>
        <p:nvSpPr>
          <p:cNvPr id="7" name="Shape 5"/>
          <p:cNvSpPr/>
          <p:nvPr/>
        </p:nvSpPr>
        <p:spPr>
          <a:xfrm>
            <a:off x="685783" y="3874889"/>
            <a:ext cx="1267091" cy="312837"/>
          </a:xfrm>
          <a:prstGeom prst="roundRect">
            <a:avLst>
              <a:gd name="adj" fmla="val 19486"/>
            </a:avLst>
          </a:prstGeom>
          <a:noFill/>
          <a:ln w="6350">
            <a:solidFill>
              <a:srgbClr val="1F2933"/>
            </a:solidFill>
            <a:prstDash val="solid"/>
          </a:ln>
        </p:spPr>
      </p:sp>
      <p:sp>
        <p:nvSpPr>
          <p:cNvPr id="8" name="Text 6"/>
          <p:cNvSpPr/>
          <p:nvPr/>
        </p:nvSpPr>
        <p:spPr>
          <a:xfrm>
            <a:off x="800080" y="3925689"/>
            <a:ext cx="1638259"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User text</a:t>
            </a:r>
            <a:endParaRPr lang="en-US" sz="1300" dirty="0"/>
          </a:p>
        </p:txBody>
      </p:sp>
      <p:sp>
        <p:nvSpPr>
          <p:cNvPr id="9" name="Text 7"/>
          <p:cNvSpPr/>
          <p:nvPr/>
        </p:nvSpPr>
        <p:spPr>
          <a:xfrm>
            <a:off x="2514537" y="2669877"/>
            <a:ext cx="856732"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02</a:t>
            </a:r>
            <a:endParaRPr lang="en-US" sz="1600" dirty="0"/>
          </a:p>
        </p:txBody>
      </p:sp>
      <p:sp>
        <p:nvSpPr>
          <p:cNvPr id="10" name="Shape 8"/>
          <p:cNvSpPr/>
          <p:nvPr/>
        </p:nvSpPr>
        <p:spPr>
          <a:xfrm>
            <a:off x="2438339" y="2954338"/>
            <a:ext cx="1828754" cy="19050"/>
          </a:xfrm>
          <a:prstGeom prst="rect">
            <a:avLst/>
          </a:prstGeom>
          <a:solidFill>
            <a:srgbClr val="1F5EFF"/>
          </a:solidFill>
          <a:ln/>
        </p:spPr>
      </p:sp>
      <p:sp>
        <p:nvSpPr>
          <p:cNvPr id="11" name="Text 9"/>
          <p:cNvSpPr/>
          <p:nvPr/>
        </p:nvSpPr>
        <p:spPr>
          <a:xfrm>
            <a:off x="2514537"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2. Clean</a:t>
            </a:r>
            <a:endParaRPr lang="en-US" sz="1600" dirty="0"/>
          </a:p>
        </p:txBody>
      </p:sp>
      <p:sp>
        <p:nvSpPr>
          <p:cNvPr id="12" name="Text 10"/>
          <p:cNvSpPr/>
          <p:nvPr/>
        </p:nvSpPr>
        <p:spPr>
          <a:xfrm>
            <a:off x="2514537"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Preprocessing</a:t>
            </a:r>
            <a:endParaRPr lang="en-US" sz="1400" dirty="0"/>
          </a:p>
        </p:txBody>
      </p:sp>
      <p:sp>
        <p:nvSpPr>
          <p:cNvPr id="13" name="Shape 11"/>
          <p:cNvSpPr/>
          <p:nvPr/>
        </p:nvSpPr>
        <p:spPr>
          <a:xfrm>
            <a:off x="2514537" y="3874889"/>
            <a:ext cx="1151702" cy="312837"/>
          </a:xfrm>
          <a:prstGeom prst="roundRect">
            <a:avLst>
              <a:gd name="adj" fmla="val 19486"/>
            </a:avLst>
          </a:prstGeom>
          <a:noFill/>
          <a:ln w="6350">
            <a:solidFill>
              <a:srgbClr val="1F2933"/>
            </a:solidFill>
            <a:prstDash val="solid"/>
          </a:ln>
        </p:spPr>
      </p:sp>
      <p:sp>
        <p:nvSpPr>
          <p:cNvPr id="14" name="Text 12"/>
          <p:cNvSpPr/>
          <p:nvPr/>
        </p:nvSpPr>
        <p:spPr>
          <a:xfrm>
            <a:off x="2628834" y="3925689"/>
            <a:ext cx="1532693"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Tokenise</a:t>
            </a:r>
            <a:endParaRPr lang="en-US" sz="1300" dirty="0"/>
          </a:p>
        </p:txBody>
      </p:sp>
      <p:sp>
        <p:nvSpPr>
          <p:cNvPr id="15" name="Text 13"/>
          <p:cNvSpPr/>
          <p:nvPr/>
        </p:nvSpPr>
        <p:spPr>
          <a:xfrm>
            <a:off x="4343291" y="2669877"/>
            <a:ext cx="852665"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03</a:t>
            </a:r>
            <a:endParaRPr lang="en-US" sz="1600" dirty="0"/>
          </a:p>
        </p:txBody>
      </p:sp>
      <p:sp>
        <p:nvSpPr>
          <p:cNvPr id="16" name="Shape 14"/>
          <p:cNvSpPr/>
          <p:nvPr/>
        </p:nvSpPr>
        <p:spPr>
          <a:xfrm>
            <a:off x="4267093" y="2954338"/>
            <a:ext cx="1828754" cy="19050"/>
          </a:xfrm>
          <a:prstGeom prst="rect">
            <a:avLst/>
          </a:prstGeom>
          <a:solidFill>
            <a:srgbClr val="1F5EFF"/>
          </a:solidFill>
          <a:ln/>
        </p:spPr>
      </p:sp>
      <p:sp>
        <p:nvSpPr>
          <p:cNvPr id="17" name="Text 15"/>
          <p:cNvSpPr/>
          <p:nvPr/>
        </p:nvSpPr>
        <p:spPr>
          <a:xfrm>
            <a:off x="4343291"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3. Classify</a:t>
            </a:r>
            <a:endParaRPr lang="en-US" sz="1600" dirty="0"/>
          </a:p>
        </p:txBody>
      </p:sp>
      <p:sp>
        <p:nvSpPr>
          <p:cNvPr id="18" name="Text 16"/>
          <p:cNvSpPr/>
          <p:nvPr/>
        </p:nvSpPr>
        <p:spPr>
          <a:xfrm>
            <a:off x="4343291"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Intent detection</a:t>
            </a:r>
            <a:endParaRPr lang="en-US" sz="1400" dirty="0"/>
          </a:p>
        </p:txBody>
      </p:sp>
      <p:sp>
        <p:nvSpPr>
          <p:cNvPr id="19" name="Shape 17"/>
          <p:cNvSpPr/>
          <p:nvPr/>
        </p:nvSpPr>
        <p:spPr>
          <a:xfrm>
            <a:off x="4343291" y="3874889"/>
            <a:ext cx="1420579" cy="350937"/>
          </a:xfrm>
          <a:prstGeom prst="roundRect">
            <a:avLst>
              <a:gd name="adj" fmla="val 17370"/>
            </a:avLst>
          </a:prstGeom>
          <a:noFill/>
          <a:ln w="19050">
            <a:solidFill>
              <a:srgbClr val="1F5EFF"/>
            </a:solidFill>
            <a:prstDash val="solid"/>
          </a:ln>
        </p:spPr>
      </p:sp>
      <p:sp>
        <p:nvSpPr>
          <p:cNvPr id="20" name="Text 18"/>
          <p:cNvSpPr/>
          <p:nvPr/>
        </p:nvSpPr>
        <p:spPr>
          <a:xfrm>
            <a:off x="4476638" y="3944739"/>
            <a:ext cx="1619209"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DistilBERT</a:t>
            </a:r>
            <a:endParaRPr lang="en-US" sz="1300" dirty="0"/>
          </a:p>
        </p:txBody>
      </p:sp>
      <p:sp>
        <p:nvSpPr>
          <p:cNvPr id="21" name="Text 19"/>
          <p:cNvSpPr/>
          <p:nvPr/>
        </p:nvSpPr>
        <p:spPr>
          <a:xfrm>
            <a:off x="6172046" y="2669877"/>
            <a:ext cx="868341"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04</a:t>
            </a:r>
            <a:endParaRPr lang="en-US" sz="1600" dirty="0"/>
          </a:p>
        </p:txBody>
      </p:sp>
      <p:sp>
        <p:nvSpPr>
          <p:cNvPr id="22" name="Shape 20"/>
          <p:cNvSpPr/>
          <p:nvPr/>
        </p:nvSpPr>
        <p:spPr>
          <a:xfrm>
            <a:off x="6095848" y="2954338"/>
            <a:ext cx="1828754" cy="19050"/>
          </a:xfrm>
          <a:prstGeom prst="rect">
            <a:avLst/>
          </a:prstGeom>
          <a:solidFill>
            <a:srgbClr val="1F5EFF"/>
          </a:solidFill>
          <a:ln/>
        </p:spPr>
      </p:sp>
      <p:sp>
        <p:nvSpPr>
          <p:cNvPr id="23" name="Text 21"/>
          <p:cNvSpPr/>
          <p:nvPr/>
        </p:nvSpPr>
        <p:spPr>
          <a:xfrm>
            <a:off x="6172046"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4. Extract</a:t>
            </a:r>
            <a:endParaRPr lang="en-US" sz="1600" dirty="0"/>
          </a:p>
        </p:txBody>
      </p:sp>
      <p:sp>
        <p:nvSpPr>
          <p:cNvPr id="24" name="Text 22"/>
          <p:cNvSpPr/>
          <p:nvPr/>
        </p:nvSpPr>
        <p:spPr>
          <a:xfrm>
            <a:off x="6172046"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Entity slots</a:t>
            </a:r>
            <a:endParaRPr lang="en-US" sz="1400" dirty="0"/>
          </a:p>
        </p:txBody>
      </p:sp>
      <p:sp>
        <p:nvSpPr>
          <p:cNvPr id="25" name="Shape 23"/>
          <p:cNvSpPr/>
          <p:nvPr/>
        </p:nvSpPr>
        <p:spPr>
          <a:xfrm>
            <a:off x="6172046" y="3874889"/>
            <a:ext cx="1497868" cy="312837"/>
          </a:xfrm>
          <a:prstGeom prst="roundRect">
            <a:avLst>
              <a:gd name="adj" fmla="val 19486"/>
            </a:avLst>
          </a:prstGeom>
          <a:noFill/>
          <a:ln w="6350">
            <a:solidFill>
              <a:srgbClr val="1F2933"/>
            </a:solidFill>
            <a:prstDash val="solid"/>
          </a:ln>
        </p:spPr>
      </p:sp>
      <p:sp>
        <p:nvSpPr>
          <p:cNvPr id="26" name="Text 24"/>
          <p:cNvSpPr/>
          <p:nvPr/>
        </p:nvSpPr>
        <p:spPr>
          <a:xfrm>
            <a:off x="6286343" y="3925689"/>
            <a:ext cx="1638259"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NER / regex</a:t>
            </a:r>
            <a:endParaRPr lang="en-US" sz="1300" dirty="0"/>
          </a:p>
        </p:txBody>
      </p:sp>
      <p:sp>
        <p:nvSpPr>
          <p:cNvPr id="27" name="Text 25"/>
          <p:cNvSpPr/>
          <p:nvPr/>
        </p:nvSpPr>
        <p:spPr>
          <a:xfrm>
            <a:off x="8000800" y="2669877"/>
            <a:ext cx="858122"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05</a:t>
            </a:r>
            <a:endParaRPr lang="en-US" sz="1600" dirty="0"/>
          </a:p>
        </p:txBody>
      </p:sp>
      <p:sp>
        <p:nvSpPr>
          <p:cNvPr id="28" name="Shape 26"/>
          <p:cNvSpPr/>
          <p:nvPr/>
        </p:nvSpPr>
        <p:spPr>
          <a:xfrm>
            <a:off x="7924602" y="2954338"/>
            <a:ext cx="1828754" cy="19050"/>
          </a:xfrm>
          <a:prstGeom prst="rect">
            <a:avLst/>
          </a:prstGeom>
          <a:solidFill>
            <a:srgbClr val="1F5EFF"/>
          </a:solidFill>
          <a:ln/>
        </p:spPr>
      </p:sp>
      <p:sp>
        <p:nvSpPr>
          <p:cNvPr id="29" name="Text 27"/>
          <p:cNvSpPr/>
          <p:nvPr/>
        </p:nvSpPr>
        <p:spPr>
          <a:xfrm>
            <a:off x="8000800"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5. State</a:t>
            </a:r>
            <a:endParaRPr lang="en-US" sz="1600" dirty="0"/>
          </a:p>
        </p:txBody>
      </p:sp>
      <p:sp>
        <p:nvSpPr>
          <p:cNvPr id="30" name="Text 28"/>
          <p:cNvSpPr/>
          <p:nvPr/>
        </p:nvSpPr>
        <p:spPr>
          <a:xfrm>
            <a:off x="8000800"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User profile</a:t>
            </a:r>
            <a:endParaRPr lang="en-US" sz="1400" dirty="0"/>
          </a:p>
        </p:txBody>
      </p:sp>
      <p:sp>
        <p:nvSpPr>
          <p:cNvPr id="31" name="Shape 29"/>
          <p:cNvSpPr/>
          <p:nvPr/>
        </p:nvSpPr>
        <p:spPr>
          <a:xfrm>
            <a:off x="8000800" y="3874889"/>
            <a:ext cx="1036314" cy="312837"/>
          </a:xfrm>
          <a:prstGeom prst="roundRect">
            <a:avLst>
              <a:gd name="adj" fmla="val 19486"/>
            </a:avLst>
          </a:prstGeom>
          <a:noFill/>
          <a:ln w="6350">
            <a:solidFill>
              <a:srgbClr val="1F2933"/>
            </a:solidFill>
            <a:prstDash val="solid"/>
          </a:ln>
        </p:spPr>
      </p:sp>
      <p:sp>
        <p:nvSpPr>
          <p:cNvPr id="32" name="Text 30"/>
          <p:cNvSpPr/>
          <p:nvPr/>
        </p:nvSpPr>
        <p:spPr>
          <a:xfrm>
            <a:off x="8115097" y="3925689"/>
            <a:ext cx="1417304"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Context</a:t>
            </a:r>
            <a:endParaRPr lang="en-US" sz="1300" dirty="0"/>
          </a:p>
        </p:txBody>
      </p:sp>
      <p:sp>
        <p:nvSpPr>
          <p:cNvPr id="33" name="Text 31"/>
          <p:cNvSpPr/>
          <p:nvPr/>
        </p:nvSpPr>
        <p:spPr>
          <a:xfrm>
            <a:off x="9829554" y="2669877"/>
            <a:ext cx="857328" cy="203200"/>
          </a:xfrm>
          <a:prstGeom prst="rect">
            <a:avLst/>
          </a:prstGeom>
          <a:noFill/>
          <a:ln/>
        </p:spPr>
        <p:txBody>
          <a:bodyPr wrap="none" lIns="0" tIns="0" rIns="0" bIns="0" rtlCol="0" anchor="t"/>
          <a:lstStyle/>
          <a:p>
            <a:pPr marL="0" indent="0" algn="l">
              <a:lnSpc>
                <a:spcPct val="83000"/>
              </a:lnSpc>
              <a:buNone/>
            </a:pPr>
            <a:r>
              <a:rPr lang="en-US" sz="1600" dirty="0">
                <a:solidFill>
                  <a:srgbClr val="1F5EFF"/>
                </a:solidFill>
                <a:latin typeface="Figtree SemiBold" pitchFamily="34" charset="0"/>
                <a:ea typeface="Figtree SemiBold" pitchFamily="34" charset="-122"/>
                <a:cs typeface="Figtree SemiBold" pitchFamily="34" charset="-120"/>
              </a:rPr>
              <a:t>06</a:t>
            </a:r>
            <a:endParaRPr lang="en-US" sz="1600" dirty="0"/>
          </a:p>
        </p:txBody>
      </p:sp>
      <p:sp>
        <p:nvSpPr>
          <p:cNvPr id="34" name="Shape 32"/>
          <p:cNvSpPr/>
          <p:nvPr/>
        </p:nvSpPr>
        <p:spPr>
          <a:xfrm>
            <a:off x="9753356" y="2954338"/>
            <a:ext cx="1828754" cy="19050"/>
          </a:xfrm>
          <a:prstGeom prst="rect">
            <a:avLst/>
          </a:prstGeom>
          <a:solidFill>
            <a:srgbClr val="1F5EFF"/>
          </a:solidFill>
          <a:ln/>
        </p:spPr>
      </p:sp>
      <p:sp>
        <p:nvSpPr>
          <p:cNvPr id="35" name="Text 33"/>
          <p:cNvSpPr/>
          <p:nvPr/>
        </p:nvSpPr>
        <p:spPr>
          <a:xfrm>
            <a:off x="9829554" y="3095228"/>
            <a:ext cx="1676358"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pitchFamily="34" charset="0"/>
                <a:ea typeface="Figtree" pitchFamily="34" charset="-122"/>
                <a:cs typeface="Figtree" pitchFamily="34" charset="-120"/>
              </a:rPr>
              <a:t>6. Guard</a:t>
            </a:r>
            <a:endParaRPr lang="en-US" sz="1600" dirty="0"/>
          </a:p>
        </p:txBody>
      </p:sp>
      <p:sp>
        <p:nvSpPr>
          <p:cNvPr id="36" name="Text 34"/>
          <p:cNvSpPr/>
          <p:nvPr/>
        </p:nvSpPr>
        <p:spPr>
          <a:xfrm>
            <a:off x="9829554" y="3505398"/>
            <a:ext cx="1752556" cy="248841"/>
          </a:xfrm>
          <a:prstGeom prst="rect">
            <a:avLst/>
          </a:prstGeom>
          <a:noFill/>
          <a:ln/>
        </p:spPr>
        <p:txBody>
          <a:bodyPr wrap="none" lIns="0" tIns="0" rIns="0" bIns="0" rtlCol="0" anchor="t"/>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Safety check</a:t>
            </a:r>
            <a:endParaRPr lang="en-US" sz="1400" dirty="0"/>
          </a:p>
        </p:txBody>
      </p:sp>
      <p:sp>
        <p:nvSpPr>
          <p:cNvPr id="37" name="Shape 35"/>
          <p:cNvSpPr/>
          <p:nvPr/>
        </p:nvSpPr>
        <p:spPr>
          <a:xfrm>
            <a:off x="9829554" y="3874889"/>
            <a:ext cx="1676358" cy="562173"/>
          </a:xfrm>
          <a:prstGeom prst="roundRect">
            <a:avLst>
              <a:gd name="adj" fmla="val 10843"/>
            </a:avLst>
          </a:prstGeom>
          <a:noFill/>
          <a:ln w="19050">
            <a:solidFill>
              <a:srgbClr val="1F5EFF"/>
            </a:solidFill>
            <a:prstDash val="solid"/>
          </a:ln>
        </p:spPr>
      </p:sp>
      <p:sp>
        <p:nvSpPr>
          <p:cNvPr id="38" name="Text 36"/>
          <p:cNvSpPr/>
          <p:nvPr/>
        </p:nvSpPr>
        <p:spPr>
          <a:xfrm>
            <a:off x="9962901" y="3944739"/>
            <a:ext cx="1409665" cy="422473"/>
          </a:xfrm>
          <a:prstGeom prst="rect">
            <a:avLst/>
          </a:prstGeom>
          <a:noFill/>
          <a:ln/>
        </p:spPr>
        <p:txBody>
          <a:bodyPr wrap="square" lIns="0" tIns="0" rIns="0" bIns="0" rtlCol="0" anchor="t">
            <a:normAutofit/>
          </a:bodyPr>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Safety filter</a:t>
            </a:r>
            <a:endParaRPr lang="en-US" sz="1300" dirty="0"/>
          </a:p>
        </p:txBody>
      </p:sp>
      <p:sp>
        <p:nvSpPr>
          <p:cNvPr id="39" name="Text 37"/>
          <p:cNvSpPr/>
          <p:nvPr/>
        </p:nvSpPr>
        <p:spPr>
          <a:xfrm>
            <a:off x="609585" y="6050359"/>
            <a:ext cx="11582110" cy="198041"/>
          </a:xfrm>
          <a:prstGeom prst="rect">
            <a:avLst/>
          </a:prstGeom>
          <a:noFill/>
          <a:ln/>
        </p:spPr>
        <p:txBody>
          <a:bodyPr wrap="none" lIns="0" tIns="0" rIns="0" bIns="0" rtlCol="0" anchor="t"/>
          <a:lstStyle/>
          <a:p>
            <a:pPr marL="0" indent="0" algn="l">
              <a:lnSpc>
                <a:spcPct val="108000"/>
              </a:lnSpc>
              <a:buNone/>
            </a:pPr>
            <a:r>
              <a:rPr lang="en-US" sz="1200" kern="0" spc="12" dirty="0">
                <a:solidFill>
                  <a:srgbClr val="5B6672"/>
                </a:solidFill>
                <a:latin typeface="Martian Mono" pitchFamily="34" charset="0"/>
                <a:ea typeface="Martian Mono" pitchFamily="34" charset="-122"/>
                <a:cs typeface="Martian Mono" pitchFamily="34" charset="-120"/>
              </a:rPr>
              <a:t>Target latency: under 200 ms on a standard CPU.</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NLP Techniques</a:t>
            </a:r>
            <a:endParaRPr lang="en-US" sz="3200" dirty="0"/>
          </a:p>
        </p:txBody>
      </p:sp>
      <p:sp>
        <p:nvSpPr>
          <p:cNvPr id="3" name="Shape 1"/>
          <p:cNvSpPr/>
          <p:nvPr/>
        </p:nvSpPr>
        <p:spPr>
          <a:xfrm>
            <a:off x="609585" y="1208980"/>
            <a:ext cx="3454314" cy="4657229"/>
          </a:xfrm>
          <a:prstGeom prst="roundRect">
            <a:avLst>
              <a:gd name="adj" fmla="val 2471"/>
            </a:avLst>
          </a:prstGeom>
          <a:noFill/>
          <a:ln w="25399">
            <a:solidFill>
              <a:srgbClr val="B2C0E5"/>
            </a:solidFill>
            <a:prstDash val="solid"/>
          </a:ln>
        </p:spPr>
      </p:sp>
      <p:sp>
        <p:nvSpPr>
          <p:cNvPr id="4" name="Text 2"/>
          <p:cNvSpPr/>
          <p:nvPr/>
        </p:nvSpPr>
        <p:spPr>
          <a:xfrm>
            <a:off x="812780" y="1437580"/>
            <a:ext cx="3251119"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LAYER 1: INTENT</a:t>
            </a:r>
            <a:endParaRPr lang="en-US" sz="1200" dirty="0"/>
          </a:p>
        </p:txBody>
      </p:sp>
      <p:sp>
        <p:nvSpPr>
          <p:cNvPr id="5" name="Text 3"/>
          <p:cNvSpPr/>
          <p:nvPr/>
        </p:nvSpPr>
        <p:spPr>
          <a:xfrm>
            <a:off x="812780" y="1718171"/>
            <a:ext cx="3047924" cy="330200"/>
          </a:xfrm>
          <a:prstGeom prst="rect">
            <a:avLst/>
          </a:prstGeom>
          <a:noFill/>
          <a:ln/>
        </p:spPr>
        <p:txBody>
          <a:bodyPr wrap="none" lIns="0" tIns="0" rIns="0" bIns="0" rtlCol="0" anchor="t"/>
          <a:lstStyle/>
          <a:p>
            <a:pPr marL="0" indent="0" algn="l">
              <a:lnSpc>
                <a:spcPct val="108000"/>
              </a:lnSpc>
              <a:buNone/>
            </a:pPr>
            <a:r>
              <a:rPr lang="en-US" sz="2000" dirty="0">
                <a:solidFill>
                  <a:srgbClr val="1F2933"/>
                </a:solidFill>
                <a:latin typeface="Figtree" pitchFamily="34" charset="0"/>
                <a:ea typeface="Figtree" pitchFamily="34" charset="-122"/>
                <a:cs typeface="Figtree" pitchFamily="34" charset="-120"/>
              </a:rPr>
              <a:t>DistilBERT Classifier</a:t>
            </a:r>
            <a:endParaRPr lang="en-US" sz="2000" dirty="0"/>
          </a:p>
        </p:txBody>
      </p:sp>
      <p:sp>
        <p:nvSpPr>
          <p:cNvPr id="6" name="Shape 4"/>
          <p:cNvSpPr/>
          <p:nvPr/>
        </p:nvSpPr>
        <p:spPr>
          <a:xfrm>
            <a:off x="812780" y="2245221"/>
            <a:ext cx="457189" cy="38100"/>
          </a:xfrm>
          <a:prstGeom prst="roundRect">
            <a:avLst>
              <a:gd name="adj" fmla="val 49999"/>
            </a:avLst>
          </a:prstGeom>
          <a:solidFill>
            <a:srgbClr val="1F5EFF"/>
          </a:solidFill>
          <a:ln/>
        </p:spPr>
      </p:sp>
      <p:sp>
        <p:nvSpPr>
          <p:cNvPr id="7" name="Text 5"/>
          <p:cNvSpPr/>
          <p:nvPr/>
        </p:nvSpPr>
        <p:spPr>
          <a:xfrm>
            <a:off x="812780" y="2454771"/>
            <a:ext cx="3047924"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Fine-tuned transformer for 7-class intent detection: workouts, search, form, nutrition, logging, motivation, and unsafe queries.</a:t>
            </a:r>
            <a:endParaRPr lang="en-US" sz="1400" dirty="0"/>
          </a:p>
        </p:txBody>
      </p:sp>
      <p:sp>
        <p:nvSpPr>
          <p:cNvPr id="8" name="Shape 6"/>
          <p:cNvSpPr/>
          <p:nvPr/>
        </p:nvSpPr>
        <p:spPr>
          <a:xfrm>
            <a:off x="812780" y="5299869"/>
            <a:ext cx="2613654" cy="337741"/>
          </a:xfrm>
          <a:prstGeom prst="roundRect">
            <a:avLst>
              <a:gd name="adj" fmla="val 18049"/>
            </a:avLst>
          </a:prstGeom>
          <a:noFill/>
          <a:ln w="19050">
            <a:solidFill>
              <a:srgbClr val="1F5EFF"/>
            </a:solidFill>
            <a:prstDash val="solid"/>
          </a:ln>
        </p:spPr>
      </p:sp>
      <p:sp>
        <p:nvSpPr>
          <p:cNvPr id="9" name="Text 7"/>
          <p:cNvSpPr/>
          <p:nvPr/>
        </p:nvSpPr>
        <p:spPr>
          <a:xfrm>
            <a:off x="946126" y="5369719"/>
            <a:ext cx="2956546"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66M params · CPU-ready</a:t>
            </a:r>
            <a:endParaRPr lang="en-US" sz="1200" dirty="0"/>
          </a:p>
        </p:txBody>
      </p:sp>
      <p:sp>
        <p:nvSpPr>
          <p:cNvPr id="10" name="Shape 8"/>
          <p:cNvSpPr/>
          <p:nvPr/>
        </p:nvSpPr>
        <p:spPr>
          <a:xfrm>
            <a:off x="4368691" y="1208980"/>
            <a:ext cx="3454314" cy="4657229"/>
          </a:xfrm>
          <a:prstGeom prst="roundRect">
            <a:avLst>
              <a:gd name="adj" fmla="val 2471"/>
            </a:avLst>
          </a:prstGeom>
          <a:noFill/>
          <a:ln w="25399">
            <a:solidFill>
              <a:srgbClr val="B2C0E5"/>
            </a:solidFill>
            <a:prstDash val="solid"/>
          </a:ln>
        </p:spPr>
      </p:sp>
      <p:sp>
        <p:nvSpPr>
          <p:cNvPr id="11" name="Text 9"/>
          <p:cNvSpPr/>
          <p:nvPr/>
        </p:nvSpPr>
        <p:spPr>
          <a:xfrm>
            <a:off x="4571886" y="1437580"/>
            <a:ext cx="3251119"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LAYER 2: EXTRACTION</a:t>
            </a:r>
            <a:endParaRPr lang="en-US" sz="1200" dirty="0"/>
          </a:p>
        </p:txBody>
      </p:sp>
      <p:sp>
        <p:nvSpPr>
          <p:cNvPr id="12" name="Text 10"/>
          <p:cNvSpPr/>
          <p:nvPr/>
        </p:nvSpPr>
        <p:spPr>
          <a:xfrm>
            <a:off x="4571886" y="1718171"/>
            <a:ext cx="3047924" cy="330200"/>
          </a:xfrm>
          <a:prstGeom prst="rect">
            <a:avLst/>
          </a:prstGeom>
          <a:noFill/>
          <a:ln/>
        </p:spPr>
        <p:txBody>
          <a:bodyPr wrap="none" lIns="0" tIns="0" rIns="0" bIns="0" rtlCol="0" anchor="t"/>
          <a:lstStyle/>
          <a:p>
            <a:pPr marL="0" indent="0" algn="l">
              <a:lnSpc>
                <a:spcPct val="108000"/>
              </a:lnSpc>
              <a:buNone/>
            </a:pPr>
            <a:r>
              <a:rPr lang="en-US" sz="2000" dirty="0">
                <a:solidFill>
                  <a:srgbClr val="1F2933"/>
                </a:solidFill>
                <a:latin typeface="Figtree" pitchFamily="34" charset="0"/>
                <a:ea typeface="Figtree" pitchFamily="34" charset="-122"/>
                <a:cs typeface="Figtree" pitchFamily="34" charset="-120"/>
              </a:rPr>
              <a:t>Entity Slot Fillers</a:t>
            </a:r>
            <a:endParaRPr lang="en-US" sz="2000" dirty="0"/>
          </a:p>
        </p:txBody>
      </p:sp>
      <p:sp>
        <p:nvSpPr>
          <p:cNvPr id="13" name="Shape 11"/>
          <p:cNvSpPr/>
          <p:nvPr/>
        </p:nvSpPr>
        <p:spPr>
          <a:xfrm>
            <a:off x="4571886" y="2245221"/>
            <a:ext cx="457189" cy="38100"/>
          </a:xfrm>
          <a:prstGeom prst="roundRect">
            <a:avLst>
              <a:gd name="adj" fmla="val 49999"/>
            </a:avLst>
          </a:prstGeom>
          <a:solidFill>
            <a:srgbClr val="1F5EFF"/>
          </a:solidFill>
          <a:ln/>
        </p:spPr>
      </p:sp>
      <p:sp>
        <p:nvSpPr>
          <p:cNvPr id="14" name="Text 12"/>
          <p:cNvSpPr/>
          <p:nvPr/>
        </p:nvSpPr>
        <p:spPr>
          <a:xfrm>
            <a:off x="4571886" y="2454771"/>
            <a:ext cx="3047924"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Rule-based and spaCy matchers extract exercises, body parts, equipment, goals, duration, and injury flags.</a:t>
            </a:r>
            <a:endParaRPr lang="en-US" sz="1400" dirty="0"/>
          </a:p>
        </p:txBody>
      </p:sp>
      <p:sp>
        <p:nvSpPr>
          <p:cNvPr id="15" name="Shape 13"/>
          <p:cNvSpPr/>
          <p:nvPr/>
        </p:nvSpPr>
        <p:spPr>
          <a:xfrm>
            <a:off x="4571886" y="5337969"/>
            <a:ext cx="2575555" cy="299641"/>
          </a:xfrm>
          <a:prstGeom prst="roundRect">
            <a:avLst>
              <a:gd name="adj" fmla="val 20344"/>
            </a:avLst>
          </a:prstGeom>
          <a:noFill/>
          <a:ln w="6350">
            <a:solidFill>
              <a:srgbClr val="1F2933"/>
            </a:solidFill>
            <a:prstDash val="solid"/>
          </a:ln>
        </p:spPr>
      </p:sp>
      <p:sp>
        <p:nvSpPr>
          <p:cNvPr id="16" name="Text 14"/>
          <p:cNvSpPr/>
          <p:nvPr/>
        </p:nvSpPr>
        <p:spPr>
          <a:xfrm>
            <a:off x="4686183" y="5388769"/>
            <a:ext cx="2956546"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Dictionary + spaCy NER</a:t>
            </a:r>
            <a:endParaRPr lang="en-US" sz="1200" dirty="0"/>
          </a:p>
        </p:txBody>
      </p:sp>
      <p:sp>
        <p:nvSpPr>
          <p:cNvPr id="17" name="Shape 15"/>
          <p:cNvSpPr/>
          <p:nvPr/>
        </p:nvSpPr>
        <p:spPr>
          <a:xfrm>
            <a:off x="8127797" y="1208980"/>
            <a:ext cx="3454314" cy="4657229"/>
          </a:xfrm>
          <a:prstGeom prst="roundRect">
            <a:avLst>
              <a:gd name="adj" fmla="val 2471"/>
            </a:avLst>
          </a:prstGeom>
          <a:noFill/>
          <a:ln w="25399">
            <a:solidFill>
              <a:srgbClr val="B2C0E5"/>
            </a:solidFill>
            <a:prstDash val="solid"/>
          </a:ln>
        </p:spPr>
      </p:sp>
      <p:sp>
        <p:nvSpPr>
          <p:cNvPr id="18" name="Text 16"/>
          <p:cNvSpPr/>
          <p:nvPr/>
        </p:nvSpPr>
        <p:spPr>
          <a:xfrm>
            <a:off x="8330992" y="1437580"/>
            <a:ext cx="3251119"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LAYER 3: GENERATION</a:t>
            </a:r>
            <a:endParaRPr lang="en-US" sz="1200" dirty="0"/>
          </a:p>
        </p:txBody>
      </p:sp>
      <p:sp>
        <p:nvSpPr>
          <p:cNvPr id="19" name="Text 17"/>
          <p:cNvSpPr/>
          <p:nvPr/>
        </p:nvSpPr>
        <p:spPr>
          <a:xfrm>
            <a:off x="8330992" y="1718171"/>
            <a:ext cx="3047924" cy="330200"/>
          </a:xfrm>
          <a:prstGeom prst="rect">
            <a:avLst/>
          </a:prstGeom>
          <a:noFill/>
          <a:ln/>
        </p:spPr>
        <p:txBody>
          <a:bodyPr wrap="none" lIns="0" tIns="0" rIns="0" bIns="0" rtlCol="0" anchor="t"/>
          <a:lstStyle/>
          <a:p>
            <a:pPr marL="0" indent="0" algn="l">
              <a:lnSpc>
                <a:spcPct val="108000"/>
              </a:lnSpc>
              <a:buNone/>
            </a:pPr>
            <a:r>
              <a:rPr lang="en-US" sz="2000" dirty="0">
                <a:solidFill>
                  <a:srgbClr val="1F2933"/>
                </a:solidFill>
                <a:latin typeface="Figtree" pitchFamily="34" charset="0"/>
                <a:ea typeface="Figtree" pitchFamily="34" charset="-122"/>
                <a:cs typeface="Figtree" pitchFamily="34" charset="-120"/>
              </a:rPr>
              <a:t>Structured Templates</a:t>
            </a:r>
            <a:endParaRPr lang="en-US" sz="2000" dirty="0"/>
          </a:p>
        </p:txBody>
      </p:sp>
      <p:sp>
        <p:nvSpPr>
          <p:cNvPr id="20" name="Shape 18"/>
          <p:cNvSpPr/>
          <p:nvPr/>
        </p:nvSpPr>
        <p:spPr>
          <a:xfrm>
            <a:off x="8330992" y="2245221"/>
            <a:ext cx="457189" cy="38100"/>
          </a:xfrm>
          <a:prstGeom prst="roundRect">
            <a:avLst>
              <a:gd name="adj" fmla="val 49999"/>
            </a:avLst>
          </a:prstGeom>
          <a:solidFill>
            <a:srgbClr val="1F5EFF"/>
          </a:solidFill>
          <a:ln/>
        </p:spPr>
      </p:sp>
      <p:sp>
        <p:nvSpPr>
          <p:cNvPr id="21" name="Text 19"/>
          <p:cNvSpPr/>
          <p:nvPr/>
        </p:nvSpPr>
        <p:spPr>
          <a:xfrm>
            <a:off x="8330992" y="2454771"/>
            <a:ext cx="3047924"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2933"/>
                </a:solidFill>
                <a:latin typeface="Figtree" pitchFamily="34" charset="0"/>
                <a:ea typeface="Figtree" pitchFamily="34" charset="-122"/>
                <a:cs typeface="Figtree" pitchFamily="34" charset="-120"/>
              </a:rPr>
              <a:t>Deterministic templates populate verified entries, preventing hallucination and enforcing disclaimers.</a:t>
            </a:r>
            <a:endParaRPr lang="en-US" sz="1400" dirty="0"/>
          </a:p>
        </p:txBody>
      </p:sp>
      <p:sp>
        <p:nvSpPr>
          <p:cNvPr id="22" name="Shape 20"/>
          <p:cNvSpPr/>
          <p:nvPr/>
        </p:nvSpPr>
        <p:spPr>
          <a:xfrm>
            <a:off x="8330992" y="5299869"/>
            <a:ext cx="2506997" cy="337741"/>
          </a:xfrm>
          <a:prstGeom prst="roundRect">
            <a:avLst>
              <a:gd name="adj" fmla="val 18049"/>
            </a:avLst>
          </a:prstGeom>
          <a:noFill/>
          <a:ln w="19050">
            <a:solidFill>
              <a:srgbClr val="1F5EFF"/>
            </a:solidFill>
            <a:prstDash val="solid"/>
          </a:ln>
        </p:spPr>
      </p:sp>
      <p:sp>
        <p:nvSpPr>
          <p:cNvPr id="23" name="Text 21"/>
          <p:cNvSpPr/>
          <p:nvPr/>
        </p:nvSpPr>
        <p:spPr>
          <a:xfrm>
            <a:off x="8464338" y="5369719"/>
            <a:ext cx="2849888" cy="198041"/>
          </a:xfrm>
          <a:prstGeom prst="rect">
            <a:avLst/>
          </a:prstGeom>
          <a:noFill/>
          <a:ln/>
        </p:spPr>
        <p:txBody>
          <a:bodyPr wrap="none" lIns="0" tIns="0" rIns="0" bIns="0" rtlCol="0" anchor="t"/>
          <a:lstStyle/>
          <a:p>
            <a:pPr marL="0" indent="0" algn="l">
              <a:lnSpc>
                <a:spcPct val="108000"/>
              </a:lnSpc>
              <a:buNone/>
            </a:pPr>
            <a:r>
              <a:rPr lang="en-US" sz="1200" dirty="0">
                <a:solidFill>
                  <a:srgbClr val="1F2933"/>
                </a:solidFill>
                <a:latin typeface="Martian Mono Medium" pitchFamily="34" charset="0"/>
                <a:ea typeface="Martian Mono Medium" pitchFamily="34" charset="-122"/>
                <a:cs typeface="Martian Mono Medium" pitchFamily="34" charset="-120"/>
              </a:rPr>
              <a:t>Grounded · Zero Drift</a:t>
            </a:r>
            <a:endParaRPr lang="en-US" sz="1200" dirty="0"/>
          </a:p>
        </p:txBody>
      </p:sp>
      <p:sp>
        <p:nvSpPr>
          <p:cNvPr id="24" name="Text 22"/>
          <p:cNvSpPr/>
          <p:nvPr/>
        </p:nvSpPr>
        <p:spPr>
          <a:xfrm>
            <a:off x="609585" y="6050359"/>
            <a:ext cx="11582110" cy="198041"/>
          </a:xfrm>
          <a:prstGeom prst="rect">
            <a:avLst/>
          </a:prstGeom>
          <a:noFill/>
          <a:ln/>
        </p:spPr>
        <p:txBody>
          <a:bodyPr wrap="none" lIns="0" tIns="0" rIns="0" bIns="0" rtlCol="0" anchor="t"/>
          <a:lstStyle/>
          <a:p>
            <a:pPr marL="0" indent="0" algn="l">
              <a:lnSpc>
                <a:spcPct val="108000"/>
              </a:lnSpc>
              <a:buNone/>
            </a:pPr>
            <a:r>
              <a:rPr lang="en-US" sz="1200" kern="0" spc="12" dirty="0">
                <a:solidFill>
                  <a:srgbClr val="5B6672"/>
                </a:solidFill>
                <a:latin typeface="Martian Mono" pitchFamily="34" charset="0"/>
                <a:ea typeface="Martian Mono" pitchFamily="34" charset="-122"/>
                <a:cs typeface="Martian Mono" pitchFamily="34" charset="-120"/>
              </a:rPr>
              <a:t>Separating language parsing from answer synthesis guarantees controllable, safe outputs.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Dataset &amp; Knowledge Base</a:t>
            </a:r>
            <a:endParaRPr lang="en-US" sz="3200" dirty="0"/>
          </a:p>
        </p:txBody>
      </p:sp>
      <p:sp>
        <p:nvSpPr>
          <p:cNvPr id="3" name="Text 1"/>
          <p:cNvSpPr/>
          <p:nvPr/>
        </p:nvSpPr>
        <p:spPr>
          <a:xfrm>
            <a:off x="609585" y="1208980"/>
            <a:ext cx="5486263"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NLU TRAINING CORPUS</a:t>
            </a:r>
            <a:endParaRPr lang="en-US" sz="1200" dirty="0"/>
          </a:p>
        </p:txBody>
      </p:sp>
      <p:sp>
        <p:nvSpPr>
          <p:cNvPr id="4" name="Text 2"/>
          <p:cNvSpPr/>
          <p:nvPr/>
        </p:nvSpPr>
        <p:spPr>
          <a:xfrm>
            <a:off x="609585" y="1489571"/>
            <a:ext cx="5130672" cy="363141"/>
          </a:xfrm>
          <a:prstGeom prst="rect">
            <a:avLst/>
          </a:prstGeom>
          <a:noFill/>
          <a:ln/>
        </p:spPr>
        <p:txBody>
          <a:bodyPr wrap="none" lIns="0" tIns="0" rIns="0" bIns="0" rtlCol="0" anchor="t"/>
          <a:lstStyle/>
          <a:p>
            <a:pPr marL="0" indent="0" algn="l">
              <a:lnSpc>
                <a:spcPct val="92000"/>
              </a:lnSpc>
              <a:buNone/>
            </a:pPr>
            <a:r>
              <a:rPr lang="en-US" sz="2600" b="1" kern="0" spc="-39" dirty="0">
                <a:solidFill>
                  <a:srgbClr val="1F2933"/>
                </a:solidFill>
                <a:latin typeface="Unbounded Bold" pitchFamily="34" charset="0"/>
                <a:ea typeface="Unbounded Bold" pitchFamily="34" charset="-122"/>
                <a:cs typeface="Unbounded Bold" pitchFamily="34" charset="-120"/>
              </a:rPr>
              <a:t>Intent &amp; Entity Data</a:t>
            </a:r>
            <a:endParaRPr lang="en-US" sz="2600" dirty="0"/>
          </a:p>
        </p:txBody>
      </p:sp>
      <p:sp>
        <p:nvSpPr>
          <p:cNvPr id="5" name="Text 3"/>
          <p:cNvSpPr/>
          <p:nvPr/>
        </p:nvSpPr>
        <p:spPr>
          <a:xfrm>
            <a:off x="609585" y="2055912"/>
            <a:ext cx="5130672" cy="1258491"/>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600" dirty="0">
                <a:solidFill>
                  <a:srgbClr val="1F2933"/>
                </a:solidFill>
                <a:latin typeface="Figtree" pitchFamily="34" charset="0"/>
                <a:ea typeface="Figtree" pitchFamily="34" charset="-122"/>
                <a:cs typeface="Figtree" pitchFamily="34" charset="-120"/>
              </a:rPr>
              <a:t>Curated intent examples split 70/15/15 across train, validation, and test.</a:t>
            </a:r>
            <a:endParaRPr lang="en-US" sz="1600" dirty="0"/>
          </a:p>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Augmented with typos, slang, and varied phrasing to mirror beginner queries.</a:t>
            </a:r>
            <a:endParaRPr lang="en-US" sz="1600" dirty="0"/>
          </a:p>
        </p:txBody>
      </p:sp>
      <p:sp>
        <p:nvSpPr>
          <p:cNvPr id="6" name="Shape 4"/>
          <p:cNvSpPr/>
          <p:nvPr/>
        </p:nvSpPr>
        <p:spPr>
          <a:xfrm>
            <a:off x="609585" y="5553373"/>
            <a:ext cx="1844034" cy="312837"/>
          </a:xfrm>
          <a:prstGeom prst="roundRect">
            <a:avLst>
              <a:gd name="adj" fmla="val 19486"/>
            </a:avLst>
          </a:prstGeom>
          <a:noFill/>
          <a:ln w="6350">
            <a:solidFill>
              <a:srgbClr val="1F2933"/>
            </a:solidFill>
            <a:prstDash val="solid"/>
          </a:ln>
        </p:spPr>
      </p:sp>
      <p:sp>
        <p:nvSpPr>
          <p:cNvPr id="7" name="Text 5"/>
          <p:cNvSpPr/>
          <p:nvPr/>
        </p:nvSpPr>
        <p:spPr>
          <a:xfrm>
            <a:off x="723882" y="5604173"/>
            <a:ext cx="2225024"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70/15/15 split</a:t>
            </a:r>
            <a:endParaRPr lang="en-US" sz="1300" dirty="0"/>
          </a:p>
        </p:txBody>
      </p:sp>
      <p:sp>
        <p:nvSpPr>
          <p:cNvPr id="8" name="Shape 6"/>
          <p:cNvSpPr/>
          <p:nvPr/>
        </p:nvSpPr>
        <p:spPr>
          <a:xfrm>
            <a:off x="2555216" y="5553373"/>
            <a:ext cx="2190199" cy="312837"/>
          </a:xfrm>
          <a:prstGeom prst="roundRect">
            <a:avLst>
              <a:gd name="adj" fmla="val 19486"/>
            </a:avLst>
          </a:prstGeom>
          <a:noFill/>
          <a:ln w="6350">
            <a:solidFill>
              <a:srgbClr val="1F2933"/>
            </a:solidFill>
            <a:prstDash val="solid"/>
          </a:ln>
        </p:spPr>
      </p:sp>
      <p:sp>
        <p:nvSpPr>
          <p:cNvPr id="9" name="Text 7"/>
          <p:cNvSpPr/>
          <p:nvPr/>
        </p:nvSpPr>
        <p:spPr>
          <a:xfrm>
            <a:off x="2669513" y="5604173"/>
            <a:ext cx="2571190"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Data augmentation</a:t>
            </a:r>
            <a:endParaRPr lang="en-US" sz="1300" dirty="0"/>
          </a:p>
        </p:txBody>
      </p:sp>
      <p:sp>
        <p:nvSpPr>
          <p:cNvPr id="10" name="Text 8"/>
          <p:cNvSpPr/>
          <p:nvPr/>
        </p:nvSpPr>
        <p:spPr>
          <a:xfrm>
            <a:off x="6451439" y="1208980"/>
            <a:ext cx="5130672" cy="198041"/>
          </a:xfrm>
          <a:prstGeom prst="rect">
            <a:avLst/>
          </a:prstGeom>
          <a:noFill/>
          <a:ln/>
        </p:spPr>
        <p:txBody>
          <a:bodyPr wrap="none" lIns="0" tIns="0" rIns="0" bIns="0" rtlCol="0" anchor="t"/>
          <a:lstStyle/>
          <a:p>
            <a:pPr marL="0" indent="0" algn="l">
              <a:lnSpc>
                <a:spcPct val="108000"/>
              </a:lnSpc>
              <a:buNone/>
            </a:pPr>
            <a:r>
              <a:rPr lang="en-US" sz="1200" kern="0" spc="72" dirty="0">
                <a:solidFill>
                  <a:srgbClr val="1F5EFF"/>
                </a:solidFill>
                <a:latin typeface="Martian Mono Medium" pitchFamily="34" charset="0"/>
                <a:ea typeface="Martian Mono Medium" pitchFamily="34" charset="-122"/>
                <a:cs typeface="Martian Mono Medium" pitchFamily="34" charset="-120"/>
              </a:rPr>
              <a:t>GROUND-TRUTH STORE</a:t>
            </a:r>
            <a:endParaRPr lang="en-US" sz="1200" dirty="0"/>
          </a:p>
        </p:txBody>
      </p:sp>
      <p:sp>
        <p:nvSpPr>
          <p:cNvPr id="11" name="Text 9"/>
          <p:cNvSpPr/>
          <p:nvPr/>
        </p:nvSpPr>
        <p:spPr>
          <a:xfrm>
            <a:off x="6451439" y="1489571"/>
            <a:ext cx="5130672" cy="726281"/>
          </a:xfrm>
          <a:prstGeom prst="rect">
            <a:avLst/>
          </a:prstGeom>
          <a:noFill/>
          <a:ln/>
        </p:spPr>
        <p:txBody>
          <a:bodyPr wrap="square" lIns="0" tIns="0" rIns="0" bIns="0" rtlCol="0" anchor="t">
            <a:normAutofit/>
          </a:bodyPr>
          <a:lstStyle/>
          <a:p>
            <a:pPr marL="0" indent="0" algn="l">
              <a:lnSpc>
                <a:spcPct val="92000"/>
              </a:lnSpc>
              <a:buNone/>
            </a:pPr>
            <a:r>
              <a:rPr lang="en-US" sz="2600" b="1" kern="0" spc="-39" dirty="0">
                <a:solidFill>
                  <a:srgbClr val="1F2933"/>
                </a:solidFill>
                <a:latin typeface="Unbounded Bold" pitchFamily="34" charset="0"/>
                <a:ea typeface="Unbounded Bold" pitchFamily="34" charset="-122"/>
                <a:cs typeface="Unbounded Bold" pitchFamily="34" charset="-120"/>
              </a:rPr>
              <a:t>Structured Knowledge Base</a:t>
            </a:r>
            <a:endParaRPr lang="en-US" sz="2600" dirty="0"/>
          </a:p>
        </p:txBody>
      </p:sp>
      <p:sp>
        <p:nvSpPr>
          <p:cNvPr id="12" name="Text 10"/>
          <p:cNvSpPr/>
          <p:nvPr/>
        </p:nvSpPr>
        <p:spPr>
          <a:xfrm>
            <a:off x="6451439" y="2419052"/>
            <a:ext cx="5130672" cy="284460"/>
          </a:xfrm>
          <a:prstGeom prst="rect">
            <a:avLst/>
          </a:prstGeom>
          <a:noFill/>
          <a:ln/>
        </p:spPr>
        <p:txBody>
          <a:bodyPr wrap="none" lIns="0" tIns="0" rIns="0" bIns="0" rtlCol="0" anchor="t"/>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A curated JSON schema indexes vetted exercises by:</a:t>
            </a:r>
            <a:endParaRPr lang="en-US" sz="1600" dirty="0"/>
          </a:p>
        </p:txBody>
      </p:sp>
      <p:sp>
        <p:nvSpPr>
          <p:cNvPr id="13" name="Text 11"/>
          <p:cNvSpPr/>
          <p:nvPr/>
        </p:nvSpPr>
        <p:spPr>
          <a:xfrm>
            <a:off x="6451439" y="2824163"/>
            <a:ext cx="5130672" cy="12394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1F2933"/>
                </a:solidFill>
                <a:latin typeface="Figtree" pitchFamily="34" charset="0"/>
                <a:ea typeface="Figtree" pitchFamily="34" charset="-122"/>
                <a:cs typeface="Figtree" pitchFamily="34" charset="-120"/>
              </a:rPr>
              <a:t>Exercise name, target muscle group &amp; difficulty level</a:t>
            </a:r>
            <a:endParaRPr lang="en-US" sz="1600" dirty="0"/>
          </a:p>
          <a:p>
            <a:pPr marL="325120" indent="-325120" algn="l">
              <a:lnSpc>
                <a:spcPct val="117000"/>
              </a:lnSpc>
              <a:buSzPct val="100000"/>
              <a:buChar char="•"/>
            </a:pPr>
            <a:r>
              <a:rPr lang="en-US" sz="1600" dirty="0">
                <a:solidFill>
                  <a:srgbClr val="1F2933"/>
                </a:solidFill>
                <a:latin typeface="Figtree" pitchFamily="34" charset="0"/>
                <a:ea typeface="Figtree" pitchFamily="34" charset="-122"/>
                <a:cs typeface="Figtree" pitchFamily="34" charset="-120"/>
              </a:rPr>
              <a:t>Required equipment &amp; step-by-step movement cues</a:t>
            </a:r>
            <a:endParaRPr lang="en-US" sz="1600" dirty="0"/>
          </a:p>
          <a:p>
            <a:pPr marL="325120" indent="-325120" algn="l">
              <a:lnSpc>
                <a:spcPct val="117000"/>
              </a:lnSpc>
              <a:buSzPct val="100000"/>
              <a:buChar char="•"/>
            </a:pPr>
            <a:r>
              <a:rPr lang="en-US" sz="1600" dirty="0">
                <a:solidFill>
                  <a:srgbClr val="1F2933"/>
                </a:solidFill>
                <a:latin typeface="Figtree" pitchFamily="34" charset="0"/>
                <a:ea typeface="Figtree" pitchFamily="34" charset="-122"/>
                <a:cs typeface="Figtree" pitchFamily="34" charset="-120"/>
              </a:rPr>
              <a:t>Common technical mistakes &amp; injury contraindications</a:t>
            </a:r>
            <a:endParaRPr lang="en-US" sz="1600" dirty="0"/>
          </a:p>
        </p:txBody>
      </p:sp>
      <p:sp>
        <p:nvSpPr>
          <p:cNvPr id="14" name="Shape 12"/>
          <p:cNvSpPr/>
          <p:nvPr/>
        </p:nvSpPr>
        <p:spPr>
          <a:xfrm>
            <a:off x="6451439" y="5553373"/>
            <a:ext cx="1497868" cy="312837"/>
          </a:xfrm>
          <a:prstGeom prst="roundRect">
            <a:avLst>
              <a:gd name="adj" fmla="val 19486"/>
            </a:avLst>
          </a:prstGeom>
          <a:noFill/>
          <a:ln w="6350">
            <a:solidFill>
              <a:srgbClr val="1F2933"/>
            </a:solidFill>
            <a:prstDash val="solid"/>
          </a:ln>
        </p:spPr>
      </p:sp>
      <p:sp>
        <p:nvSpPr>
          <p:cNvPr id="15" name="Text 13"/>
          <p:cNvSpPr/>
          <p:nvPr/>
        </p:nvSpPr>
        <p:spPr>
          <a:xfrm>
            <a:off x="6565736" y="5604173"/>
            <a:ext cx="1878858"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JSON schema</a:t>
            </a:r>
            <a:endParaRPr lang="en-US" sz="1300" dirty="0"/>
          </a:p>
        </p:txBody>
      </p:sp>
      <p:sp>
        <p:nvSpPr>
          <p:cNvPr id="16" name="Shape 14"/>
          <p:cNvSpPr/>
          <p:nvPr/>
        </p:nvSpPr>
        <p:spPr>
          <a:xfrm>
            <a:off x="8050904" y="5553373"/>
            <a:ext cx="2536365" cy="312837"/>
          </a:xfrm>
          <a:prstGeom prst="roundRect">
            <a:avLst>
              <a:gd name="adj" fmla="val 19486"/>
            </a:avLst>
          </a:prstGeom>
          <a:noFill/>
          <a:ln w="6350">
            <a:solidFill>
              <a:srgbClr val="1F2933"/>
            </a:solidFill>
            <a:prstDash val="solid"/>
          </a:ln>
        </p:spPr>
      </p:sp>
      <p:sp>
        <p:nvSpPr>
          <p:cNvPr id="17" name="Text 15"/>
          <p:cNvSpPr/>
          <p:nvPr/>
        </p:nvSpPr>
        <p:spPr>
          <a:xfrm>
            <a:off x="8165201" y="5604173"/>
            <a:ext cx="2917355" cy="211237"/>
          </a:xfrm>
          <a:prstGeom prst="rect">
            <a:avLst/>
          </a:prstGeom>
          <a:noFill/>
          <a:ln/>
        </p:spPr>
        <p:txBody>
          <a:bodyPr wrap="none" lIns="0" tIns="0" rIns="0" bIns="0" rtlCol="0" anchor="t"/>
          <a:lstStyle/>
          <a:p>
            <a:pPr marL="0" indent="0" algn="l">
              <a:lnSpc>
                <a:spcPct val="108000"/>
              </a:lnSpc>
              <a:buNone/>
            </a:pPr>
            <a:r>
              <a:rPr lang="en-US" sz="1300" kern="0" spc="13" dirty="0">
                <a:solidFill>
                  <a:srgbClr val="1F2933"/>
                </a:solidFill>
                <a:latin typeface="Martian Mono Medium" pitchFamily="34" charset="0"/>
                <a:ea typeface="Martian Mono Medium" pitchFamily="34" charset="-122"/>
                <a:cs typeface="Martian Mono Medium" pitchFamily="34" charset="-120"/>
              </a:rPr>
              <a:t>Vetted exercise bank</a:t>
            </a:r>
            <a:endParaRPr lang="en-US" sz="1300" dirty="0"/>
          </a:p>
        </p:txBody>
      </p:sp>
      <p:sp>
        <p:nvSpPr>
          <p:cNvPr id="18" name="Text 16"/>
          <p:cNvSpPr/>
          <p:nvPr/>
        </p:nvSpPr>
        <p:spPr>
          <a:xfrm>
            <a:off x="609585" y="6050359"/>
            <a:ext cx="11582110" cy="198041"/>
          </a:xfrm>
          <a:prstGeom prst="rect">
            <a:avLst/>
          </a:prstGeom>
          <a:noFill/>
          <a:ln/>
        </p:spPr>
        <p:txBody>
          <a:bodyPr wrap="none" lIns="0" tIns="0" rIns="0" bIns="0" rtlCol="0" anchor="t"/>
          <a:lstStyle/>
          <a:p>
            <a:pPr marL="0" indent="0" algn="l">
              <a:lnSpc>
                <a:spcPct val="108000"/>
              </a:lnSpc>
              <a:buNone/>
            </a:pPr>
            <a:r>
              <a:rPr lang="en-US" sz="1200" kern="0" spc="12" dirty="0">
                <a:solidFill>
                  <a:srgbClr val="5B6672"/>
                </a:solidFill>
                <a:latin typeface="Martian Mono" pitchFamily="34" charset="0"/>
                <a:ea typeface="Martian Mono" pitchFamily="34" charset="-122"/>
                <a:cs typeface="Martian Mono" pitchFamily="34" charset="-120"/>
              </a:rPr>
              <a:t>A focused exercise domain limits unverified medical advice.</a:t>
            </a:r>
            <a:endParaRPr lang="en-US" sz="1200" dirty="0"/>
          </a:p>
        </p:txBody>
      </p:sp>
      <p:sp>
        <p:nvSpPr>
          <p:cNvPr id="19" name="Shape 17"/>
          <p:cNvSpPr/>
          <p:nvPr/>
        </p:nvSpPr>
        <p:spPr>
          <a:xfrm>
            <a:off x="6086323" y="1208980"/>
            <a:ext cx="19050" cy="4657229"/>
          </a:xfrm>
          <a:prstGeom prst="rect">
            <a:avLst/>
          </a:prstGeom>
          <a:solidFill>
            <a:srgbClr val="1F5EF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Evaluation Plan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234380"/>
          <a:ext cx="9143771" cy="914400"/>
        </p:xfrm>
        <a:graphic>
          <a:graphicData uri="http://schemas.openxmlformats.org/drawingml/2006/table">
            <a:tbl>
              <a:tblPr/>
              <a:tblGrid>
                <a:gridCol w="2633406">
                  <a:extLst>
                    <a:ext uri="{9D8B030D-6E8A-4147-A177-3AD203B41FA5}">
                      <a16:colId xmlns:a16="http://schemas.microsoft.com/office/drawing/2014/main" val="20000"/>
                    </a:ext>
                  </a:extLst>
                </a:gridCol>
                <a:gridCol w="4169560">
                  <a:extLst>
                    <a:ext uri="{9D8B030D-6E8A-4147-A177-3AD203B41FA5}">
                      <a16:colId xmlns:a16="http://schemas.microsoft.com/office/drawing/2014/main" val="20001"/>
                    </a:ext>
                  </a:extLst>
                </a:gridCol>
                <a:gridCol w="4169560">
                  <a:extLst>
                    <a:ext uri="{9D8B030D-6E8A-4147-A177-3AD203B41FA5}">
                      <a16:colId xmlns:a16="http://schemas.microsoft.com/office/drawing/2014/main" val="20002"/>
                    </a:ext>
                  </a:extLst>
                </a:gridCol>
              </a:tblGrid>
              <a:tr h="515528">
                <a:tc>
                  <a:txBody>
                    <a:bodyPr/>
                    <a:lstStyle/>
                    <a:p>
                      <a:pPr marL="0" indent="0" algn="l">
                        <a:buNone/>
                      </a:pPr>
                      <a:r>
                        <a:rPr lang="en-US" sz="1200" kern="0" spc="72" dirty="0">
                          <a:solidFill>
                            <a:srgbClr val="1F2933"/>
                          </a:solidFill>
                          <a:latin typeface="Martian Mono" pitchFamily="34" charset="0"/>
                          <a:ea typeface="Martian Mono" pitchFamily="34" charset="-122"/>
                          <a:cs typeface="Martian Mono" pitchFamily="34" charset="-120"/>
                        </a:rPr>
                        <a:t>SUBSYSTEM</a:t>
                      </a:r>
                      <a:endParaRPr lang="en-US" sz="1200" dirty="0">
                        <a:latin typeface="Martian Mono" charset="0"/>
                        <a:ea typeface="Martian Mono" charset="0"/>
                        <a:cs typeface="Martian Mono" charset="0"/>
                      </a:endParaRPr>
                    </a:p>
                  </a:txBody>
                  <a:tcPr marL="177796" marR="177796" marT="152396" marB="1523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CE5"/>
                      </a:solidFill>
                      <a:prstDash val="solid"/>
                      <a:round/>
                      <a:headEnd type="none" w="med" len="med"/>
                      <a:tailEnd type="none" w="med" len="med"/>
                    </a:lnB>
                    <a:solidFill>
                      <a:srgbClr val="FFFFFF"/>
                    </a:solidFill>
                  </a:tcPr>
                </a:tc>
                <a:tc>
                  <a:txBody>
                    <a:bodyPr/>
                    <a:lstStyle/>
                    <a:p>
                      <a:pPr marL="0" indent="0" algn="l">
                        <a:buNone/>
                      </a:pPr>
                      <a:r>
                        <a:rPr lang="en-US" sz="1200" kern="0" spc="72" dirty="0">
                          <a:solidFill>
                            <a:srgbClr val="1F2933"/>
                          </a:solidFill>
                          <a:latin typeface="Martian Mono" pitchFamily="34" charset="0"/>
                          <a:ea typeface="Martian Mono" pitchFamily="34" charset="-122"/>
                          <a:cs typeface="Martian Mono" pitchFamily="34" charset="-120"/>
                        </a:rPr>
                        <a:t>PROPOSED METRICS</a:t>
                      </a:r>
                      <a:endParaRPr lang="en-US" sz="1200" dirty="0">
                        <a:latin typeface="Martian Mono" charset="0"/>
                        <a:ea typeface="Martian Mono" charset="0"/>
                        <a:cs typeface="Martian Mono" charset="0"/>
                      </a:endParaRPr>
                    </a:p>
                  </a:txBody>
                  <a:tcPr marL="177796" marR="177796" marT="152396" marB="1523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CE5"/>
                      </a:solidFill>
                      <a:prstDash val="solid"/>
                      <a:round/>
                      <a:headEnd type="none" w="med" len="med"/>
                      <a:tailEnd type="none" w="med" len="med"/>
                    </a:lnB>
                    <a:solidFill>
                      <a:srgbClr val="FFFFFF"/>
                    </a:solidFill>
                  </a:tcPr>
                </a:tc>
                <a:tc>
                  <a:txBody>
                    <a:bodyPr/>
                    <a:lstStyle/>
                    <a:p>
                      <a:pPr marL="0" indent="0" algn="l">
                        <a:buNone/>
                      </a:pPr>
                      <a:r>
                        <a:rPr lang="en-US" sz="1200" kern="0" spc="72" dirty="0">
                          <a:solidFill>
                            <a:srgbClr val="1F2933"/>
                          </a:solidFill>
                          <a:latin typeface="Martian Mono" pitchFamily="34" charset="0"/>
                          <a:ea typeface="Martian Mono" pitchFamily="34" charset="-122"/>
                          <a:cs typeface="Martian Mono" pitchFamily="34" charset="-120"/>
                        </a:rPr>
                        <a:t>SUCCESS CRITERIA</a:t>
                      </a:r>
                      <a:endParaRPr lang="en-US" sz="1200" dirty="0">
                        <a:latin typeface="Martian Mono" charset="0"/>
                        <a:ea typeface="Martian Mono" charset="0"/>
                        <a:cs typeface="Martian Mono" charset="0"/>
                      </a:endParaRPr>
                    </a:p>
                  </a:txBody>
                  <a:tcPr marL="177796" marR="177796" marT="152396" marB="1523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68420">
                <a:tc>
                  <a:txBody>
                    <a:bodyPr/>
                    <a:lstStyle/>
                    <a:p>
                      <a:pPr marL="0" indent="0" algn="l">
                        <a:buNone/>
                      </a:pPr>
                      <a:r>
                        <a:rPr lang="en-US" sz="1600" b="1" dirty="0">
                          <a:solidFill>
                            <a:srgbClr val="1F2933"/>
                          </a:solidFill>
                          <a:latin typeface="Figtree" pitchFamily="34" charset="0"/>
                          <a:ea typeface="Figtree" pitchFamily="34" charset="-122"/>
                          <a:cs typeface="Figtree" pitchFamily="34" charset="-120"/>
                        </a:rPr>
                        <a:t>Intent Classification</a:t>
                      </a:r>
                      <a:endParaRPr lang="en-US" sz="16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400" dirty="0">
                          <a:solidFill>
                            <a:srgbClr val="1F2933"/>
                          </a:solidFill>
                          <a:latin typeface="Figtree" pitchFamily="34" charset="0"/>
                          <a:ea typeface="Figtree" pitchFamily="34" charset="-122"/>
                          <a:cs typeface="Figtree" pitchFamily="34" charset="-120"/>
                        </a:rPr>
                        <a:t>Accuracy, Precision, Recall, Macro-F1</a:t>
                      </a:r>
                      <a:endParaRPr lang="en-US" sz="14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050" kern="0" spc="13" dirty="0">
                          <a:solidFill>
                            <a:srgbClr val="1F2933"/>
                          </a:solidFill>
                          <a:latin typeface="Figtree" pitchFamily="34" charset="0"/>
                          <a:ea typeface="Figtree" pitchFamily="34" charset="-122"/>
                          <a:cs typeface="Figtree" pitchFamily="34" charset="-120"/>
                        </a:rPr>
                        <a:t>Macro-F1 ≥ 0.90</a:t>
                      </a:r>
                      <a:endParaRPr lang="en-US" sz="1300" dirty="0">
                        <a:latin typeface="Martian Mono" charset="0"/>
                        <a:ea typeface="Martian Mono" charset="0"/>
                        <a:cs typeface="Martian Mono"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extLst>
                  <a:ext uri="{0D108BD9-81ED-4DB2-BD59-A6C34878D82A}">
                    <a16:rowId xmlns:a16="http://schemas.microsoft.com/office/drawing/2014/main" val="10001"/>
                  </a:ext>
                </a:extLst>
              </a:tr>
              <a:tr h="668420">
                <a:tc>
                  <a:txBody>
                    <a:bodyPr/>
                    <a:lstStyle/>
                    <a:p>
                      <a:pPr marL="0" indent="0" algn="l">
                        <a:buNone/>
                      </a:pPr>
                      <a:r>
                        <a:rPr lang="en-US" sz="1600" b="1" dirty="0">
                          <a:solidFill>
                            <a:srgbClr val="1F2933"/>
                          </a:solidFill>
                          <a:latin typeface="Figtree" pitchFamily="34" charset="0"/>
                          <a:ea typeface="Figtree" pitchFamily="34" charset="-122"/>
                          <a:cs typeface="Figtree" pitchFamily="34" charset="-120"/>
                        </a:rPr>
                        <a:t>Entity Extraction</a:t>
                      </a:r>
                      <a:endParaRPr lang="en-US" sz="16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400" dirty="0">
                          <a:solidFill>
                            <a:srgbClr val="1F2933"/>
                          </a:solidFill>
                          <a:latin typeface="Figtree" pitchFamily="34" charset="0"/>
                          <a:ea typeface="Figtree" pitchFamily="34" charset="-122"/>
                          <a:cs typeface="Figtree" pitchFamily="34" charset="-120"/>
                        </a:rPr>
                        <a:t>Precision, Recall, slot-level F1</a:t>
                      </a:r>
                      <a:endParaRPr lang="en-US" sz="14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050" kern="0" spc="13" dirty="0">
                          <a:solidFill>
                            <a:srgbClr val="1F2933"/>
                          </a:solidFill>
                          <a:latin typeface="Figtree" pitchFamily="34" charset="0"/>
                          <a:ea typeface="Figtree" pitchFamily="34" charset="-122"/>
                          <a:cs typeface="Figtree" pitchFamily="34" charset="-120"/>
                        </a:rPr>
                        <a:t>Entity F1 ≥ 0.85</a:t>
                      </a:r>
                      <a:endParaRPr lang="en-US" sz="1300" dirty="0">
                        <a:latin typeface="Martian Mono" charset="0"/>
                        <a:ea typeface="Martian Mono" charset="0"/>
                        <a:cs typeface="Martian Mono"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extLst>
                  <a:ext uri="{0D108BD9-81ED-4DB2-BD59-A6C34878D82A}">
                    <a16:rowId xmlns:a16="http://schemas.microsoft.com/office/drawing/2014/main" val="10002"/>
                  </a:ext>
                </a:extLst>
              </a:tr>
              <a:tr h="668420">
                <a:tc>
                  <a:txBody>
                    <a:bodyPr/>
                    <a:lstStyle/>
                    <a:p>
                      <a:pPr marL="0" indent="0" algn="l">
                        <a:buNone/>
                      </a:pPr>
                      <a:r>
                        <a:rPr lang="en-US" sz="1600" b="1" dirty="0">
                          <a:solidFill>
                            <a:srgbClr val="1F2933"/>
                          </a:solidFill>
                          <a:latin typeface="Figtree" pitchFamily="34" charset="0"/>
                          <a:ea typeface="Figtree" pitchFamily="34" charset="-122"/>
                          <a:cs typeface="Figtree" pitchFamily="34" charset="-120"/>
                        </a:rPr>
                        <a:t>Knowledge Retrieval</a:t>
                      </a:r>
                      <a:endParaRPr lang="en-US" sz="16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400" dirty="0">
                          <a:solidFill>
                            <a:srgbClr val="1F2933"/>
                          </a:solidFill>
                          <a:latin typeface="Figtree" pitchFamily="34" charset="0"/>
                          <a:ea typeface="Figtree" pitchFamily="34" charset="-122"/>
                          <a:cs typeface="Figtree" pitchFamily="34" charset="-120"/>
                        </a:rPr>
                        <a:t>Recall@3 and Recall@5</a:t>
                      </a:r>
                      <a:endParaRPr lang="en-US" sz="14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tc>
                  <a:txBody>
                    <a:bodyPr/>
                    <a:lstStyle/>
                    <a:p>
                      <a:pPr marL="0" indent="0" algn="l">
                        <a:buNone/>
                      </a:pPr>
                      <a:r>
                        <a:rPr lang="en-US" sz="1050" kern="0" spc="13" dirty="0">
                          <a:solidFill>
                            <a:srgbClr val="1F2933"/>
                          </a:solidFill>
                          <a:latin typeface="Figtree" pitchFamily="34" charset="0"/>
                          <a:ea typeface="Figtree" pitchFamily="34" charset="-122"/>
                          <a:cs typeface="Figtree" pitchFamily="34" charset="-120"/>
                        </a:rPr>
                        <a:t>Recall@3 ≥ 0.88</a:t>
                      </a:r>
                      <a:endParaRPr lang="en-US" sz="1300" dirty="0">
                        <a:latin typeface="Martian Mono" charset="0"/>
                        <a:ea typeface="Martian Mono" charset="0"/>
                        <a:cs typeface="Martian Mono"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D5DCE5"/>
                      </a:solidFill>
                      <a:prstDash val="solid"/>
                      <a:round/>
                      <a:headEnd type="none" w="med" len="med"/>
                      <a:tailEnd type="none" w="med" len="med"/>
                    </a:lnB>
                  </a:tcPr>
                </a:tc>
                <a:extLst>
                  <a:ext uri="{0D108BD9-81ED-4DB2-BD59-A6C34878D82A}">
                    <a16:rowId xmlns:a16="http://schemas.microsoft.com/office/drawing/2014/main" val="10003"/>
                  </a:ext>
                </a:extLst>
              </a:tr>
              <a:tr h="802461">
                <a:tc>
                  <a:txBody>
                    <a:bodyPr/>
                    <a:lstStyle/>
                    <a:p>
                      <a:pPr marL="0" indent="0" algn="l">
                        <a:buNone/>
                      </a:pPr>
                      <a:r>
                        <a:rPr lang="en-US" sz="1600" b="1" dirty="0">
                          <a:solidFill>
                            <a:srgbClr val="1F2933"/>
                          </a:solidFill>
                          <a:latin typeface="Figtree" pitchFamily="34" charset="0"/>
                          <a:ea typeface="Figtree" pitchFamily="34" charset="-122"/>
                          <a:cs typeface="Figtree" pitchFamily="34" charset="-120"/>
                        </a:rPr>
                        <a:t>Safety &amp; Experience</a:t>
                      </a:r>
                      <a:endParaRPr lang="en-US" sz="16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F7F9FC"/>
                      </a:solidFill>
                      <a:prstDash val="solid"/>
                      <a:round/>
                      <a:headEnd type="none" w="med" len="med"/>
                      <a:tailEnd type="none" w="med" len="med"/>
                    </a:lnB>
                  </a:tcPr>
                </a:tc>
                <a:tc>
                  <a:txBody>
                    <a:bodyPr/>
                    <a:lstStyle/>
                    <a:p>
                      <a:pPr marL="0" indent="0" algn="l">
                        <a:buNone/>
                      </a:pPr>
                      <a:r>
                        <a:rPr lang="en-US" sz="1400" dirty="0">
                          <a:solidFill>
                            <a:srgbClr val="1F2933"/>
                          </a:solidFill>
                          <a:latin typeface="Figtree" pitchFamily="34" charset="0"/>
                          <a:ea typeface="Figtree" pitchFamily="34" charset="-122"/>
                          <a:cs typeface="Figtree" pitchFamily="34" charset="-120"/>
                        </a:rPr>
                        <a:t>Out-of-scope rate; human clarity and safety ratings</a:t>
                      </a:r>
                      <a:endParaRPr lang="en-US" sz="1400" dirty="0">
                        <a:latin typeface="Figtree" charset="0"/>
                        <a:ea typeface="Figtree" charset="0"/>
                        <a:cs typeface="Figtree"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F7F9FC"/>
                      </a:solidFill>
                      <a:prstDash val="solid"/>
                      <a:round/>
                      <a:headEnd type="none" w="med" len="med"/>
                      <a:tailEnd type="none" w="med" len="med"/>
                    </a:lnB>
                  </a:tcPr>
                </a:tc>
                <a:tc>
                  <a:txBody>
                    <a:bodyPr/>
                    <a:lstStyle/>
                    <a:p>
                      <a:pPr marL="0" indent="0" algn="l">
                        <a:buNone/>
                      </a:pPr>
                      <a:r>
                        <a:rPr lang="en-US" sz="1050" kern="0" spc="13" dirty="0">
                          <a:solidFill>
                            <a:srgbClr val="1F2933"/>
                          </a:solidFill>
                          <a:latin typeface="Figtree" pitchFamily="34" charset="0"/>
                          <a:ea typeface="Figtree" pitchFamily="34" charset="-122"/>
                          <a:cs typeface="Figtree" pitchFamily="34" charset="-120"/>
                        </a:rPr>
                        <a:t>100% Medical Queries Flagged</a:t>
                      </a:r>
                      <a:endParaRPr lang="en-US" sz="1300" dirty="0">
                        <a:latin typeface="Martian Mono" charset="0"/>
                        <a:ea typeface="Martian Mono" charset="0"/>
                        <a:cs typeface="Martian Mono" charset="0"/>
                      </a:endParaRPr>
                    </a:p>
                  </a:txBody>
                  <a:tcPr marL="177796" marR="177796" marT="152396" marB="152396" anchor="ctr">
                    <a:lnL w="12700" cap="flat" cmpd="sng" algn="ctr">
                      <a:solidFill>
                        <a:srgbClr val="F7F9FC"/>
                      </a:solidFill>
                      <a:prstDash val="solid"/>
                      <a:round/>
                      <a:headEnd type="none" w="med" len="med"/>
                      <a:tailEnd type="none" w="med" len="med"/>
                    </a:lnL>
                    <a:lnR w="12700" cap="flat" cmpd="sng" algn="ctr">
                      <a:solidFill>
                        <a:srgbClr val="F7F9FC"/>
                      </a:solidFill>
                      <a:prstDash val="solid"/>
                      <a:round/>
                      <a:headEnd type="none" w="med" len="med"/>
                      <a:tailEnd type="none" w="med" len="med"/>
                    </a:lnR>
                    <a:lnT w="12700" cap="flat" cmpd="sng" algn="ctr">
                      <a:solidFill>
                        <a:srgbClr val="D5DCE5"/>
                      </a:solidFill>
                      <a:prstDash val="solid"/>
                      <a:round/>
                      <a:headEnd type="none" w="med" len="med"/>
                      <a:tailEnd type="none" w="med" len="med"/>
                    </a:lnT>
                    <a:lnB w="12700" cap="flat" cmpd="sng" algn="ctr">
                      <a:solidFill>
                        <a:srgbClr val="F7F9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609585" y="6050359"/>
            <a:ext cx="11582110" cy="198041"/>
          </a:xfrm>
          <a:prstGeom prst="rect">
            <a:avLst/>
          </a:prstGeom>
          <a:noFill/>
          <a:ln/>
        </p:spPr>
        <p:txBody>
          <a:bodyPr wrap="none" lIns="0" tIns="0" rIns="0" bIns="0" rtlCol="0" anchor="t"/>
          <a:lstStyle/>
          <a:p>
            <a:pPr marL="0" indent="0" algn="l">
              <a:lnSpc>
                <a:spcPct val="108000"/>
              </a:lnSpc>
              <a:buNone/>
            </a:pPr>
            <a:r>
              <a:rPr lang="en-US" sz="1200" kern="0" spc="12" dirty="0">
                <a:solidFill>
                  <a:srgbClr val="5B6672"/>
                </a:solidFill>
                <a:latin typeface="Martian Mono" pitchFamily="34" charset="0"/>
                <a:ea typeface="Martian Mono" pitchFamily="34" charset="-122"/>
                <a:cs typeface="Martian Mono" pitchFamily="34" charset="-120"/>
              </a:rPr>
              <a:t>Proposed evaluation targets ensure model robustness before user deployment.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0972526" cy="446980"/>
          </a:xfrm>
          <a:prstGeom prst="rect">
            <a:avLst/>
          </a:prstGeom>
          <a:noFill/>
          <a:ln/>
        </p:spPr>
        <p:txBody>
          <a:bodyPr wrap="none" lIns="0" tIns="0" rIns="0" bIns="0" rtlCol="0" anchor="t"/>
          <a:lstStyle/>
          <a:p>
            <a:pPr marL="0" indent="0" algn="l">
              <a:lnSpc>
                <a:spcPct val="92000"/>
              </a:lnSpc>
              <a:buNone/>
            </a:pPr>
            <a:r>
              <a:rPr lang="en-US" sz="3200" b="1" kern="0" spc="-48" dirty="0">
                <a:solidFill>
                  <a:srgbClr val="1F2933"/>
                </a:solidFill>
                <a:latin typeface="Unbounded Bold" pitchFamily="34" charset="0"/>
                <a:ea typeface="Unbounded Bold" pitchFamily="34" charset="-122"/>
                <a:cs typeface="Unbounded Bold" pitchFamily="34" charset="-120"/>
              </a:rPr>
              <a:t>Project Roadmap</a:t>
            </a:r>
            <a:endParaRPr lang="en-US" sz="3200" dirty="0"/>
          </a:p>
        </p:txBody>
      </p:sp>
      <p:sp>
        <p:nvSpPr>
          <p:cNvPr id="3" name="Shape 1"/>
          <p:cNvSpPr/>
          <p:nvPr/>
        </p:nvSpPr>
        <p:spPr>
          <a:xfrm>
            <a:off x="609585" y="1259780"/>
            <a:ext cx="279393" cy="279400"/>
          </a:xfrm>
          <a:prstGeom prst="rect">
            <a:avLst/>
          </a:prstGeom>
          <a:solidFill>
            <a:srgbClr val="1F5EFF"/>
          </a:solidFill>
          <a:ln/>
        </p:spPr>
      </p:sp>
      <p:sp>
        <p:nvSpPr>
          <p:cNvPr id="4" name="Text 2"/>
          <p:cNvSpPr/>
          <p:nvPr/>
        </p:nvSpPr>
        <p:spPr>
          <a:xfrm>
            <a:off x="720012" y="1329630"/>
            <a:ext cx="668122"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1</a:t>
            </a:r>
            <a:endParaRPr lang="en-US" sz="1100" dirty="0"/>
          </a:p>
        </p:txBody>
      </p:sp>
      <p:sp>
        <p:nvSpPr>
          <p:cNvPr id="5" name="Text 3"/>
          <p:cNvSpPr/>
          <p:nvPr/>
        </p:nvSpPr>
        <p:spPr>
          <a:xfrm>
            <a:off x="609585" y="1621730"/>
            <a:ext cx="5333867"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Plan and prepare</a:t>
            </a:r>
            <a:endParaRPr lang="en-US" sz="1600" dirty="0"/>
          </a:p>
        </p:txBody>
      </p:sp>
      <p:sp>
        <p:nvSpPr>
          <p:cNvPr id="6" name="Text 4"/>
          <p:cNvSpPr/>
          <p:nvPr/>
        </p:nvSpPr>
        <p:spPr>
          <a:xfrm>
            <a:off x="609585" y="2031901"/>
            <a:ext cx="5333867"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Finalise intents, clean examples, and prepare the knowledge base.</a:t>
            </a:r>
            <a:endParaRPr lang="en-US" sz="1600" dirty="0"/>
          </a:p>
        </p:txBody>
      </p:sp>
      <p:sp>
        <p:nvSpPr>
          <p:cNvPr id="7" name="Shape 5"/>
          <p:cNvSpPr/>
          <p:nvPr/>
        </p:nvSpPr>
        <p:spPr>
          <a:xfrm>
            <a:off x="6248244" y="1259780"/>
            <a:ext cx="279393" cy="279400"/>
          </a:xfrm>
          <a:prstGeom prst="rect">
            <a:avLst/>
          </a:prstGeom>
          <a:solidFill>
            <a:srgbClr val="1F5EFF"/>
          </a:solidFill>
          <a:ln/>
        </p:spPr>
      </p:sp>
      <p:sp>
        <p:nvSpPr>
          <p:cNvPr id="8" name="Text 6"/>
          <p:cNvSpPr/>
          <p:nvPr/>
        </p:nvSpPr>
        <p:spPr>
          <a:xfrm>
            <a:off x="6348055" y="1329630"/>
            <a:ext cx="689355"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2</a:t>
            </a:r>
            <a:endParaRPr lang="en-US" sz="1100" dirty="0"/>
          </a:p>
        </p:txBody>
      </p:sp>
      <p:sp>
        <p:nvSpPr>
          <p:cNvPr id="9" name="Text 7"/>
          <p:cNvSpPr/>
          <p:nvPr/>
        </p:nvSpPr>
        <p:spPr>
          <a:xfrm>
            <a:off x="6248244" y="1621730"/>
            <a:ext cx="5333867"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Build the NLP layer</a:t>
            </a:r>
            <a:endParaRPr lang="en-US" sz="1600" dirty="0"/>
          </a:p>
        </p:txBody>
      </p:sp>
      <p:sp>
        <p:nvSpPr>
          <p:cNvPr id="10" name="Text 8"/>
          <p:cNvSpPr/>
          <p:nvPr/>
        </p:nvSpPr>
        <p:spPr>
          <a:xfrm>
            <a:off x="6248244" y="2031901"/>
            <a:ext cx="5333867"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Train intent classification, add entity extraction and safety detection.</a:t>
            </a:r>
            <a:endParaRPr lang="en-US" sz="1600" dirty="0"/>
          </a:p>
        </p:txBody>
      </p:sp>
      <p:sp>
        <p:nvSpPr>
          <p:cNvPr id="11" name="Shape 9"/>
          <p:cNvSpPr/>
          <p:nvPr/>
        </p:nvSpPr>
        <p:spPr>
          <a:xfrm>
            <a:off x="609585" y="3672185"/>
            <a:ext cx="279393" cy="279400"/>
          </a:xfrm>
          <a:prstGeom prst="rect">
            <a:avLst/>
          </a:prstGeom>
          <a:solidFill>
            <a:srgbClr val="1F5EFF"/>
          </a:solidFill>
          <a:ln/>
        </p:spPr>
      </p:sp>
      <p:sp>
        <p:nvSpPr>
          <p:cNvPr id="12" name="Text 10"/>
          <p:cNvSpPr/>
          <p:nvPr/>
        </p:nvSpPr>
        <p:spPr>
          <a:xfrm>
            <a:off x="710785" y="3742035"/>
            <a:ext cx="686577"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3</a:t>
            </a:r>
            <a:endParaRPr lang="en-US" sz="1100" dirty="0"/>
          </a:p>
        </p:txBody>
      </p:sp>
      <p:sp>
        <p:nvSpPr>
          <p:cNvPr id="13" name="Text 11"/>
          <p:cNvSpPr/>
          <p:nvPr/>
        </p:nvSpPr>
        <p:spPr>
          <a:xfrm>
            <a:off x="609585" y="4034135"/>
            <a:ext cx="5333867"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Connect dialogue and responses</a:t>
            </a:r>
            <a:endParaRPr lang="en-US" sz="1600" dirty="0"/>
          </a:p>
        </p:txBody>
      </p:sp>
      <p:sp>
        <p:nvSpPr>
          <p:cNvPr id="14" name="Text 12"/>
          <p:cNvSpPr/>
          <p:nvPr/>
        </p:nvSpPr>
        <p:spPr>
          <a:xfrm>
            <a:off x="609585" y="4444305"/>
            <a:ext cx="5333867"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Track profiles, retrieve exercises, create templates, and connect components.</a:t>
            </a:r>
            <a:endParaRPr lang="en-US" sz="1600" dirty="0"/>
          </a:p>
        </p:txBody>
      </p:sp>
      <p:sp>
        <p:nvSpPr>
          <p:cNvPr id="15" name="Shape 13"/>
          <p:cNvSpPr/>
          <p:nvPr/>
        </p:nvSpPr>
        <p:spPr>
          <a:xfrm>
            <a:off x="6248244" y="3672185"/>
            <a:ext cx="279393" cy="279400"/>
          </a:xfrm>
          <a:prstGeom prst="rect">
            <a:avLst/>
          </a:prstGeom>
          <a:solidFill>
            <a:srgbClr val="1F5EFF"/>
          </a:solidFill>
          <a:ln/>
        </p:spPr>
      </p:sp>
      <p:sp>
        <p:nvSpPr>
          <p:cNvPr id="16" name="Text 14"/>
          <p:cNvSpPr/>
          <p:nvPr/>
        </p:nvSpPr>
        <p:spPr>
          <a:xfrm>
            <a:off x="6343987" y="3742035"/>
            <a:ext cx="697391" cy="139700"/>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4</a:t>
            </a:r>
            <a:endParaRPr lang="en-US" sz="1100" dirty="0"/>
          </a:p>
        </p:txBody>
      </p:sp>
      <p:sp>
        <p:nvSpPr>
          <p:cNvPr id="17" name="Text 15"/>
          <p:cNvSpPr/>
          <p:nvPr/>
        </p:nvSpPr>
        <p:spPr>
          <a:xfrm>
            <a:off x="6248244" y="4034135"/>
            <a:ext cx="5333867" cy="264120"/>
          </a:xfrm>
          <a:prstGeom prst="rect">
            <a:avLst/>
          </a:prstGeom>
          <a:noFill/>
          <a:ln/>
        </p:spPr>
        <p:txBody>
          <a:bodyPr wrap="none" lIns="0" tIns="0" rIns="0" bIns="0" rtlCol="0" anchor="t"/>
          <a:lstStyle/>
          <a:p>
            <a:pPr marL="0" indent="0" algn="l">
              <a:lnSpc>
                <a:spcPct val="108000"/>
              </a:lnSpc>
              <a:buNone/>
            </a:pPr>
            <a:r>
              <a:rPr lang="en-US" sz="1600" dirty="0">
                <a:solidFill>
                  <a:srgbClr val="1F2933"/>
                </a:solidFill>
                <a:latin typeface="Figtree SemiBold" pitchFamily="34" charset="0"/>
                <a:ea typeface="Figtree SemiBold" pitchFamily="34" charset="-122"/>
                <a:cs typeface="Figtree SemiBold" pitchFamily="34" charset="-120"/>
              </a:rPr>
              <a:t>Interface and evaluate</a:t>
            </a:r>
            <a:endParaRPr lang="en-US" sz="1600" dirty="0"/>
          </a:p>
        </p:txBody>
      </p:sp>
      <p:sp>
        <p:nvSpPr>
          <p:cNvPr id="18" name="Text 16"/>
          <p:cNvSpPr/>
          <p:nvPr/>
        </p:nvSpPr>
        <p:spPr>
          <a:xfrm>
            <a:off x="6248244" y="4444305"/>
            <a:ext cx="5333867"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2933"/>
                </a:solidFill>
                <a:latin typeface="Figtree" pitchFamily="34" charset="0"/>
                <a:ea typeface="Figtree" pitchFamily="34" charset="-122"/>
                <a:cs typeface="Figtree" pitchFamily="34" charset="-120"/>
              </a:rPr>
              <a:t>Build Streamlit, test realistic conversations, and evaluate the system.</a:t>
            </a:r>
            <a:endParaRPr lang="en-US" sz="1600" dirty="0"/>
          </a:p>
        </p:txBody>
      </p:sp>
      <p:sp>
        <p:nvSpPr>
          <p:cNvPr id="19" name="Text 17"/>
          <p:cNvSpPr/>
          <p:nvPr/>
        </p:nvSpPr>
        <p:spPr>
          <a:xfrm>
            <a:off x="609585" y="5963940"/>
            <a:ext cx="11582110" cy="284460"/>
          </a:xfrm>
          <a:prstGeom prst="rect">
            <a:avLst/>
          </a:prstGeom>
          <a:noFill/>
          <a:ln/>
        </p:spPr>
        <p:txBody>
          <a:bodyPr wrap="none" lIns="0" tIns="0" rIns="0" bIns="0" rtlCol="0" anchor="t"/>
          <a:lstStyle/>
          <a:p>
            <a:pPr marL="0" indent="0" algn="l">
              <a:lnSpc>
                <a:spcPct val="117000"/>
              </a:lnSpc>
              <a:buNone/>
            </a:pPr>
            <a:r>
              <a:rPr lang="en-US" sz="1600" b="1" dirty="0">
                <a:solidFill>
                  <a:srgbClr val="1F2933"/>
                </a:solidFill>
                <a:latin typeface="Figtree Bold" pitchFamily="34" charset="0"/>
                <a:ea typeface="Figtree Bold" pitchFamily="34" charset="-122"/>
                <a:cs typeface="Figtree Bold" pitchFamily="34" charset="-120"/>
              </a:rPr>
              <a:t>Expected deliverable:</a:t>
            </a:r>
            <a:r>
              <a:rPr lang="en-US" sz="1600" dirty="0">
                <a:solidFill>
                  <a:srgbClr val="1F2933"/>
                </a:solidFill>
                <a:latin typeface="Figtree" pitchFamily="34" charset="0"/>
                <a:ea typeface="Figtree" pitchFamily="34" charset="-122"/>
                <a:cs typeface="Figtree" pitchFamily="34" charset="-120"/>
              </a:rPr>
              <a:t> a working prototype for safe, personalised fitness guidance.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1460</Words>
  <Application>Microsoft Office PowerPoint</Application>
  <PresentationFormat>Widescreen</PresentationFormat>
  <Paragraphs>141</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Martian Mono Medium</vt:lpstr>
      <vt:lpstr>Martian Mono</vt:lpstr>
      <vt:lpstr>Figtree</vt:lpstr>
      <vt:lpstr>Arial</vt:lpstr>
      <vt:lpstr>Figtree Bold</vt:lpstr>
      <vt:lpstr>Unbounded Medium</vt:lpstr>
      <vt:lpstr>Figtree SemiBold</vt:lpstr>
      <vt:lpstr>Unbounded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jiakai chang</cp:lastModifiedBy>
  <cp:revision>2</cp:revision>
  <dcterms:created xsi:type="dcterms:W3CDTF">2026-09-28T07:03:05Z</dcterms:created>
  <dcterms:modified xsi:type="dcterms:W3CDTF">2026-09-28T07:09:10Z</dcterms:modified>
</cp:coreProperties>
</file>